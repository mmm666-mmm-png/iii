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b5b4b89d924a28" /><Relationship Type="http://schemas.openxmlformats.org/officeDocument/2006/relationships/extended-properties" Target="/docProps/app.xml" Id="Rba7dc5ff5bff4b2b" /><Relationship Type="http://schemas.openxmlformats.org/officeDocument/2006/relationships/officeDocument" Target="/ppt/presentation.xml" Id="Rf2215c2ea7b943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154f3c7ade4972"/>
  </p:sldMasterIdLst>
  <p:notesMasterIdLst>
    <p:notesMasterId xmlns:r="http://schemas.openxmlformats.org/officeDocument/2006/relationships" r:id="Rf17439c70f7a4eb7"/>
  </p:notesMasterIdLst>
  <p:sldIdLst>
    <p:sldId xmlns:r="http://schemas.openxmlformats.org/officeDocument/2006/relationships" id="256" r:id="Rf147f69ad45347b3"/>
    <p:sldId xmlns:r="http://schemas.openxmlformats.org/officeDocument/2006/relationships" id="257" r:id="R649940b0c5ef470e"/>
    <p:sldId xmlns:r="http://schemas.openxmlformats.org/officeDocument/2006/relationships" id="258" r:id="R778697cff0714ba8"/>
    <p:sldId xmlns:r="http://schemas.openxmlformats.org/officeDocument/2006/relationships" id="259" r:id="R161429acd1814273"/>
    <p:sldId xmlns:r="http://schemas.openxmlformats.org/officeDocument/2006/relationships" id="260" r:id="R7470e9800b8d4aba"/>
    <p:sldId xmlns:r="http://schemas.openxmlformats.org/officeDocument/2006/relationships" id="261" r:id="Rea754f8c33b147d1"/>
    <p:sldId xmlns:r="http://schemas.openxmlformats.org/officeDocument/2006/relationships" id="262" r:id="R81a4326a903b4020"/>
    <p:sldId xmlns:r="http://schemas.openxmlformats.org/officeDocument/2006/relationships" id="263" r:id="R8c884baef2984e11"/>
    <p:sldId xmlns:r="http://schemas.openxmlformats.org/officeDocument/2006/relationships" id="264" r:id="R6f66e612750b4670"/>
    <p:sldId xmlns:r="http://schemas.openxmlformats.org/officeDocument/2006/relationships" id="265" r:id="R943b3f97317840c5"/>
    <p:sldId xmlns:r="http://schemas.openxmlformats.org/officeDocument/2006/relationships" id="266" r:id="Rc98222de057840f8"/>
    <p:sldId xmlns:r="http://schemas.openxmlformats.org/officeDocument/2006/relationships" id="267" r:id="Rdb276b455d364973"/>
    <p:sldId xmlns:r="http://schemas.openxmlformats.org/officeDocument/2006/relationships" id="268" r:id="Rcb1830ff3f554849"/>
    <p:sldId xmlns:r="http://schemas.openxmlformats.org/officeDocument/2006/relationships" id="269" r:id="Rb5c4ea9eeb9246b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154f3c7ade4972" /><Relationship Type="http://schemas.openxmlformats.org/officeDocument/2006/relationships/theme" Target="/ppt/theme/theme1.xml" Id="Ra4c4c05486044dd9" /><Relationship Type="http://schemas.openxmlformats.org/officeDocument/2006/relationships/notesMaster" Target="/ppt/notesMasters/notesMaster1.xml" Id="Rf17439c70f7a4eb7" /><Relationship Type="http://schemas.openxmlformats.org/officeDocument/2006/relationships/presProps" Target="/ppt/presProps.xml" Id="Rea65c75a7bb04288" /><Relationship Type="http://schemas.openxmlformats.org/officeDocument/2006/relationships/viewProps" Target="/ppt/viewProps.xml" Id="R5f53e22eaf6346d8" /><Relationship Type="http://schemas.openxmlformats.org/officeDocument/2006/relationships/tableStyles" Target="/ppt/tableStyles.xml" Id="Ra3f03dfae3a0434b" /><Relationship Type="http://schemas.openxmlformats.org/officeDocument/2006/relationships/slide" Target="/ppt/slides/slide1.xml" Id="Rf147f69ad45347b3" /><Relationship Type="http://schemas.openxmlformats.org/officeDocument/2006/relationships/slide" Target="/ppt/slides/slide2.xml" Id="R649940b0c5ef470e" /><Relationship Type="http://schemas.openxmlformats.org/officeDocument/2006/relationships/slide" Target="/ppt/slides/slide3.xml" Id="R778697cff0714ba8" /><Relationship Type="http://schemas.openxmlformats.org/officeDocument/2006/relationships/slide" Target="/ppt/slides/slide4.xml" Id="R161429acd1814273" /><Relationship Type="http://schemas.openxmlformats.org/officeDocument/2006/relationships/slide" Target="/ppt/slides/slide5.xml" Id="R7470e9800b8d4aba" /><Relationship Type="http://schemas.openxmlformats.org/officeDocument/2006/relationships/slide" Target="/ppt/slides/slide6.xml" Id="Rea754f8c33b147d1" /><Relationship Type="http://schemas.openxmlformats.org/officeDocument/2006/relationships/slide" Target="/ppt/slides/slide7.xml" Id="R81a4326a903b4020" /><Relationship Type="http://schemas.openxmlformats.org/officeDocument/2006/relationships/slide" Target="/ppt/slides/slide8.xml" Id="R8c884baef2984e11" /><Relationship Type="http://schemas.openxmlformats.org/officeDocument/2006/relationships/slide" Target="/ppt/slides/slide9.xml" Id="R6f66e612750b4670" /><Relationship Type="http://schemas.openxmlformats.org/officeDocument/2006/relationships/slide" Target="/ppt/slides/slide10.xml" Id="R943b3f97317840c5" /><Relationship Type="http://schemas.openxmlformats.org/officeDocument/2006/relationships/slide" Target="/ppt/slides/slide11.xml" Id="Rc98222de057840f8" /><Relationship Type="http://schemas.openxmlformats.org/officeDocument/2006/relationships/slide" Target="/ppt/slides/slide12.xml" Id="Rdb276b455d364973" /><Relationship Type="http://schemas.openxmlformats.org/officeDocument/2006/relationships/slide" Target="/ppt/slides/slide13.xml" Id="Rcb1830ff3f554849" /><Relationship Type="http://schemas.openxmlformats.org/officeDocument/2006/relationships/slide" Target="/ppt/slides/slide14.xml" Id="Rb5c4ea9eeb9246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e1989c9e84341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AI Glass Defense">
  <a:themeElements>
    <a:clrScheme name="AI Glass Defense">
      <a:accent1>
        <a:srgbClr val="0E8F6F"/>
      </a:accent1>
      <a:accent2>
        <a:srgbClr val="D29A2E"/>
      </a:accent2>
      <a:accent3>
        <a:srgbClr val="D8624B"/>
      </a:accent3>
      <a:accent4>
        <a:srgbClr val="2C8FB8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I Glass Defens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eb49a9910c4a17" /><Relationship Type="http://schemas.openxmlformats.org/officeDocument/2006/relationships/notesMaster" Target="/ppt/notesMasters/notesMaster1.xml" Id="R03e377d5e08a43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634e0d613b493f" /><Relationship Type="http://schemas.openxmlformats.org/officeDocument/2006/relationships/notesMaster" Target="/ppt/notesMasters/notesMaster1.xml" Id="Re6895f26a47f4a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a84dae743d45df" /><Relationship Type="http://schemas.openxmlformats.org/officeDocument/2006/relationships/notesMaster" Target="/ppt/notesMasters/notesMaster1.xml" Id="R2dc806ec209643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fda3de20f2488f" /><Relationship Type="http://schemas.openxmlformats.org/officeDocument/2006/relationships/notesMaster" Target="/ppt/notesMasters/notesMaster1.xml" Id="R21e4308e0d1b43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2b1f8dd6794cfe" /><Relationship Type="http://schemas.openxmlformats.org/officeDocument/2006/relationships/notesMaster" Target="/ppt/notesMasters/notesMaster1.xml" Id="R6bd20ccf5e714f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940f43142441d1" /><Relationship Type="http://schemas.openxmlformats.org/officeDocument/2006/relationships/notesMaster" Target="/ppt/notesMasters/notesMaster1.xml" Id="Rc2e8a9a7e31d4e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2dd48f88cc4854" /><Relationship Type="http://schemas.openxmlformats.org/officeDocument/2006/relationships/notesMaster" Target="/ppt/notesMasters/notesMaster1.xml" Id="Rb4e3a8dae78f45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d2dfc4f07c45a3" /><Relationship Type="http://schemas.openxmlformats.org/officeDocument/2006/relationships/notesMaster" Target="/ppt/notesMasters/notesMaster1.xml" Id="R5a32449947d74b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1f47b138d440de" /><Relationship Type="http://schemas.openxmlformats.org/officeDocument/2006/relationships/notesMaster" Target="/ppt/notesMasters/notesMaster1.xml" Id="R4ed217ab00bc41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ef9b95bcea4710" /><Relationship Type="http://schemas.openxmlformats.org/officeDocument/2006/relationships/notesMaster" Target="/ppt/notesMasters/notesMaster1.xml" Id="Red61c922c6904c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15fff0f0024baf" /><Relationship Type="http://schemas.openxmlformats.org/officeDocument/2006/relationships/notesMaster" Target="/ppt/notesMasters/notesMaster1.xml" Id="R0231f3733d654d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77bf9d391e474d" /><Relationship Type="http://schemas.openxmlformats.org/officeDocument/2006/relationships/notesMaster" Target="/ppt/notesMasters/notesMaster1.xml" Id="Rc3509889e7e040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1f2cfda0a0436d" /><Relationship Type="http://schemas.openxmlformats.org/officeDocument/2006/relationships/notesMaster" Target="/ppt/notesMasters/notesMaster1.xml" Id="R17c3bf747b9f45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4cca0f02c74e89" /><Relationship Type="http://schemas.openxmlformats.org/officeDocument/2006/relationships/notesMaster" Target="/ppt/notesMasters/notesMaster1.xml" Id="R2477815595ce40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开场说明项目面向真实出行辅助需求，先强调系统不是单一算法演示，而是硬件、通信、后端、AI 和前端组成的完整原型。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这一页回答为什么做：不是替代导盲杖，而是补足环境理解和语音交互能力。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这一页可以按目标逐个过一遍，后面每个目标都会在架构、算法或测试页面中对应落地。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重点解释各层职责：端侧轻量采集，服务器做连接和状态管理，Python 做模型推理，前端负责观察和控制。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强调为什么采用 UDP：视频/音频连续流对延迟敏感；后端再通过 WebSocket 给浏览器推送可视化。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这一页展示工程完整性。可以说代码已按模块加中文注释，便于答辩时解释和后续维护。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讲导盲算法时突出“分割+几何规则+障碍检测”的组合，不需要把全部代码细节展开。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这一页说明状态机设计：命令触发过街，检测斑马线后再结合红绿灯，最后回到导盲。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这里可以解释双通道音频：导盲提示由设备端播放，AI 问答语音可由浏览器或设备播放，避免互相打断。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这一页可以说明前端不是装饰，而是系统联调工具。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这里对应刚才实际运行过的验证命令。现场可以补充设备联调视频或截图。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这一页要强调工程闭环：硬件、通信、模型、AI 和前端已经打通。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总结时回到目标：低成本智能眼镜、视觉导航、语音交互、可部署原型。展望部分不要承诺已完成的能力。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收束页。回答问题时优先回到系统目标、关键模块和测试验证。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9251fb633c436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DC5ADD06-DDB6-4248-B719-C8473B58533F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7B4FCF0D-0A33-4CA1-9052-253B636CB243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8FED15A-0C06-481D-AFC2-20A04BE187F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3B07DDE-5B73-4107-9467-CA1A722DC30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A7821A-DA1F-4AB9-978C-E00C8214570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7db7fcde41a4afe" /><Relationship Type="http://schemas.openxmlformats.org/officeDocument/2006/relationships/slideLayout" Target="/ppt/slideLayouts/slideLayout2.xml" Id="Rcc91a5105f1146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F012950-F0E0-4822-A24B-3AFF484FED1B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91a5105f1146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78765af1944873" /><Relationship Type="http://schemas.openxmlformats.org/officeDocument/2006/relationships/image" Target="/ppt/media/image.png" Id="R2e4c33149c264094" /><Relationship Type="http://schemas.openxmlformats.org/officeDocument/2006/relationships/notesSlide" Target="/ppt/notesSlides/notesSlide1.xml" Id="Rfb94e8f0107241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211dad176d4126" /><Relationship Type="http://schemas.openxmlformats.org/officeDocument/2006/relationships/image" Target="/ppt/media/image2.png" Id="R4e40c2eaaa104126" /><Relationship Type="http://schemas.openxmlformats.org/officeDocument/2006/relationships/notesSlide" Target="/ppt/notesSlides/notesSlide2.xml" Id="R4a941149d46541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545199db8a49bf" /><Relationship Type="http://schemas.openxmlformats.org/officeDocument/2006/relationships/image" Target="/ppt/media/image3.png" Id="R85854cc928fb483a" /><Relationship Type="http://schemas.openxmlformats.org/officeDocument/2006/relationships/notesSlide" Target="/ppt/notesSlides/notesSlide3.xml" Id="R95497df74b9149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971fb3d9e1429f" /><Relationship Type="http://schemas.openxmlformats.org/officeDocument/2006/relationships/image" Target="/ppt/media/image4.png" Id="R370757c3c55e4645" /><Relationship Type="http://schemas.openxmlformats.org/officeDocument/2006/relationships/notesSlide" Target="/ppt/notesSlides/notesSlide4.xml" Id="Rddb7d96ec1dd4d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ab98ac0325446c" /><Relationship Type="http://schemas.openxmlformats.org/officeDocument/2006/relationships/image" Target="/ppt/media/image5.png" Id="R9187eb877ea24a8e" /><Relationship Type="http://schemas.openxmlformats.org/officeDocument/2006/relationships/notesSlide" Target="/ppt/notesSlides/notesSlide5.xml" Id="Rc2e3fae7fb7d40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1a366dc8ba4c0c" /><Relationship Type="http://schemas.openxmlformats.org/officeDocument/2006/relationships/image" Target="/ppt/media/image6.png" Id="R77d3f65962d64fb7" /><Relationship Type="http://schemas.openxmlformats.org/officeDocument/2006/relationships/notesSlide" Target="/ppt/notesSlides/notesSlide6.xml" Id="Rf4e718a595754b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bd7b630fed401a" /><Relationship Type="http://schemas.openxmlformats.org/officeDocument/2006/relationships/image" Target="/ppt/media/image7.png" Id="Rc5fcb83d2daa4a25" /><Relationship Type="http://schemas.openxmlformats.org/officeDocument/2006/relationships/notesSlide" Target="/ppt/notesSlides/notesSlide7.xml" Id="R5f931d040ddd4e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90641c2e584af1" /><Relationship Type="http://schemas.openxmlformats.org/officeDocument/2006/relationships/image" Target="/ppt/media/image8.png" Id="R104c9e95f7654600" /><Relationship Type="http://schemas.openxmlformats.org/officeDocument/2006/relationships/notesSlide" Target="/ppt/notesSlides/notesSlide8.xml" Id="Re2b2f0da02fc46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540bf009684772" /><Relationship Type="http://schemas.openxmlformats.org/officeDocument/2006/relationships/image" Target="/ppt/media/image9.png" Id="Re4e3f66e829e41f7" /><Relationship Type="http://schemas.openxmlformats.org/officeDocument/2006/relationships/notesSlide" Target="/ppt/notesSlides/notesSlide9.xml" Id="Rf46c848f9be64d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74b4706dce4286" /><Relationship Type="http://schemas.openxmlformats.org/officeDocument/2006/relationships/image" Target="/ppt/media/image10.png" Id="R97f796fd5ea64651" /><Relationship Type="http://schemas.openxmlformats.org/officeDocument/2006/relationships/notesSlide" Target="/ppt/notesSlides/notesSlide10.xml" Id="R6c515b45dc554e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a49e9268a44a74" /><Relationship Type="http://schemas.openxmlformats.org/officeDocument/2006/relationships/image" Target="/ppt/media/image11.png" Id="R92f7c39ba3b246f9" /><Relationship Type="http://schemas.openxmlformats.org/officeDocument/2006/relationships/notesSlide" Target="/ppt/notesSlides/notesSlide11.xml" Id="Rcb2e0cec057340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544c5a554f4dac" /><Relationship Type="http://schemas.openxmlformats.org/officeDocument/2006/relationships/image" Target="/ppt/media/image12.png" Id="R65df8559fb9a47a5" /><Relationship Type="http://schemas.openxmlformats.org/officeDocument/2006/relationships/notesSlide" Target="/ppt/notesSlides/notesSlide12.xml" Id="Rfe35401fde8c44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f6a89eff904223" /><Relationship Type="http://schemas.openxmlformats.org/officeDocument/2006/relationships/image" Target="/ppt/media/image13.png" Id="Ra29112e7c314429e" /><Relationship Type="http://schemas.openxmlformats.org/officeDocument/2006/relationships/notesSlide" Target="/ppt/notesSlides/notesSlide13.xml" Id="Rc3dbaab6f2a240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e2faa7ed974a22" /><Relationship Type="http://schemas.openxmlformats.org/officeDocument/2006/relationships/image" Target="/ppt/media/image14.png" Id="R4a50164e00bc4bc4" /><Relationship Type="http://schemas.openxmlformats.org/officeDocument/2006/relationships/notesSlide" Target="/ppt/notesSlides/notesSlide14.xml" Id="R6111e476fbfd47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A7821A-DA1F-4AB9-978C-E00C821457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72A8A-394F-47EC-8549-2928AF14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6901F-6601-48A8-B448-526F512F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4FF52-5CB8-4DFC-BCBC-FA7C6B89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76300" y="4914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E1CA4-F321-4C30-B881-F59384E4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-114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2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5E7A6-32B9-43CC-A5D4-4B9FA184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25A08-D648-4277-A5B3-4AEC609E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8DA52-43E1-4F24-B992-D0420404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CD868-9A28-4B53-9FCF-D6AF04A2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61AF6-C085-43E2-8BCE-4C390287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848B7-E366-40A8-8904-44B40D27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31BE1-0CF7-4A08-A703-BBFEACC4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2A0A0-2A8D-4059-830C-25EDD518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FF563-5620-4B24-98BC-203D8D8F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>
              <a:alpha val="9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54483-8413-4F7E-BF16-562BE5F3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62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C22DD-292E-4852-9521-5B16B70F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8F6F"/>
                </a:solidFill>
              </a:defRPr>
            </a:pPr>
            <a:r>
              <a:rPr sz="1275" b="1">
                <a:solidFill>
                  <a:srgbClr val="0E8F6F"/>
                </a:solidFill>
              </a:rPr>
              <a:t>毕业设计答辩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923622-13D5-4A9E-BB3C-646E6EAB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6858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1D"/>
                </a:solidFill>
              </a:defRPr>
            </a:pPr>
            <a:r>
              <a:rPr sz="3150" b="1">
                <a:solidFill>
                  <a:srgbClr val="17201D"/>
                </a:solidFill>
              </a:rPr>
              <a:t>基于 ESP32 智能眼镜的</a:t>
            </a:r>
          </a:p>
          <a:p xmlns:a="http://schemas.openxmlformats.org/drawingml/2006/main">
            <a:pPr algn="l">
              <a:defRPr sz="3150" b="1">
                <a:solidFill>
                  <a:srgbClr val="17201D"/>
                </a:solidFill>
              </a:defRPr>
            </a:pPr>
            <a:r>
              <a:rPr sz="3150" b="1">
                <a:solidFill>
                  <a:srgbClr val="17201D"/>
                </a:solidFill>
              </a:rPr>
              <a:t>视觉导航与语音交互系统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8A7276-25FD-40FD-B4EB-69B25785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66"/>
                </a:solidFill>
              </a:defRPr>
            </a:pPr>
            <a:r>
              <a:rPr sz="1425" b="0">
                <a:solidFill>
                  <a:srgbClr val="5E6A66"/>
                </a:solidFill>
              </a:rPr>
              <a:t>面向视障出行辅助场景，构建低成本可穿戴硬件、实时视觉感知与自然语音交互的一体化原型。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72C3A1-4BAD-49A6-957C-B34184A6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1562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3F3EB"/>
          </a:solidFill>
          <a:ln xmlns:a="http://schemas.openxmlformats.org/drawingml/2006/main" w="9525">
            <a:solidFill>
              <a:srgbClr val="0E8F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35CB9F-B0AF-4D42-8B7C-3803FD5D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862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8F6F"/>
                </a:solidFill>
              </a:defRPr>
            </a:pPr>
            <a:r>
              <a:rPr sz="975" b="1">
                <a:solidFill>
                  <a:srgbClr val="0E8F6F"/>
                </a:solidFill>
              </a:rPr>
              <a:t>ESP32-S3 Sense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5C7717-3233-4E31-9185-32D3EFF5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19550"/>
            <a:ext cx="1409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DE4DE"/>
          </a:solidFill>
          <a:ln xmlns:a="http://schemas.openxmlformats.org/drawingml/2006/main" w="9525">
            <a:solidFill>
              <a:srgbClr val="D862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492417-A2BE-4426-898B-E101ACD3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862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8624B"/>
                </a:solidFill>
              </a:defRPr>
            </a:pPr>
            <a:r>
              <a:rPr sz="975" b="1">
                <a:solidFill>
                  <a:srgbClr val="D8624B"/>
                </a:solidFill>
              </a:rPr>
              <a:t>YOLO / YOLOE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7553A5-C7C6-4531-9D85-538D70EC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19550"/>
            <a:ext cx="1390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3F1F6"/>
          </a:solidFill>
          <a:ln xmlns:a="http://schemas.openxmlformats.org/drawingml/2006/main" w="9525">
            <a:solidFill>
              <a:srgbClr val="2C8F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E62A7E-02FD-46B2-BDE0-C6854EB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86225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C8FB8"/>
                </a:solidFill>
              </a:defRPr>
            </a:pPr>
            <a:r>
              <a:rPr sz="975" b="1">
                <a:solidFill>
                  <a:srgbClr val="2C8FB8"/>
                </a:solidFill>
              </a:rPr>
              <a:t>DashScope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F999FC-1C90-4911-A455-527FC136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4648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63AFBB-0E0A-4100-B2E0-7BFADEEF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72050"/>
            <a:ext cx="4114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汇报人：XXX    指导教师：XXX</a:t>
            </a:r>
          </a:p>
          <a:p xmlns:a="http://schemas.openxmlformats.org/drawingml/2006/main">
            <a:pPr algn="l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学院/专业：XXX    日期：2026 年 5 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8BF219-55A5-4726-90D3-8B10B946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85800"/>
            <a:ext cx="26098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>
              <a:alpha val="78824"/>
            </a:srgbClr>
          </a:solidFill>
          <a:ln xmlns:a="http://schemas.openxmlformats.org/drawingml/2006/main" w="9525">
            <a:solidFill>
              <a:srgbClr val="CFD8D2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c33149c264094"/>
          <a:stretch xmlns:a="http://schemas.openxmlformats.org/drawingml/2006/main"/>
        </p:blipFill>
        <p:spPr>
          <a:xfrm xmlns:a="http://schemas.openxmlformats.org/drawingml/2006/main">
            <a:off x="8550468" y="838200"/>
            <a:ext cx="1701413" cy="17907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DE4344-2866-4F2C-8918-A4559465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86050"/>
            <a:ext cx="22669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E2524"/>
          </a:solidFill>
          <a:ln xmlns:a="http://schemas.openxmlformats.org/drawingml/2006/main" w="11430">
            <a:solidFill>
              <a:srgbClr val="17201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38C185-DBD2-496A-A4F2-DE1C458B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52750"/>
            <a:ext cx="18859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B3431"/>
          </a:solidFill>
          <a:ln xmlns:a="http://schemas.openxmlformats.org/drawingml/2006/main" w="9525">
            <a:solidFill>
              <a:srgbClr val="55615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378A15-985D-4814-B536-F34E740C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908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210"/>
          </a:solidFill>
          <a:ln xmlns:a="http://schemas.openxmlformats.org/drawingml/2006/main" w="28575">
            <a:solidFill>
              <a:srgbClr val="86918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C0F353-3594-4385-A400-A345CBF9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B3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5553EF-B523-44E4-98CD-D4AF69C8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62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F73238-3123-4277-97A7-034CB382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962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7723CD-AF9A-4C7F-AE64-0CABF29A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19525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DE6E0"/>
                </a:solidFill>
              </a:defRPr>
            </a:pPr>
            <a:r>
              <a:rPr sz="750" b="0">
                <a:solidFill>
                  <a:srgbClr val="DDE6E0"/>
                </a:solidFill>
              </a:rPr>
              <a:t>CAM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D9EB09-D2E4-4B36-99AC-90E28DF7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10125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8F6F"/>
                </a:solidFill>
              </a:defRPr>
            </a:pPr>
            <a:r>
              <a:rPr sz="1500" b="1">
                <a:solidFill>
                  <a:srgbClr val="0E8F6F"/>
                </a:solidFill>
              </a:rPr>
              <a:t>采集 → 识别 → 决策 → 语音提示</a:t>
            </a:r>
          </a:p>
        </p:txBody>
      </p:sp>
    </p:spTree>
    <p:extLst>
      <p:ext uri="{BB962C8B-B14F-4D97-AF65-F5344CB8AC3E}">
        <p14:creationId xmlns:p14="http://schemas.microsoft.com/office/powerpoint/2010/main" val="2071383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A7821A-DA1F-4AB9-978C-E00C821457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285EE-3ABF-447B-ADD1-E6C61888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B61FF-66B8-43F8-BFC7-CAAE91AC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10312-9DE7-45B8-B5D6-EF65ED1D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76300" y="4914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B269C-2873-461D-B52E-7B45AF00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-114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2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5C8B0-9EE6-4985-980B-2E4E6DA4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26A33-D242-4C76-B607-3E6260CC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84F0D-E933-4EFC-8449-C2E556DE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4A3DD-E817-4260-A17A-DD19A575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49300-0C74-4796-8579-2BC66BD2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F8B2E-A942-48D8-AE6E-C0A7FB08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95C52-B415-4A52-9117-1642F860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B00674-CA91-4E38-A6CE-AE1EC5A7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3567F1-B28E-4276-BFD7-0C31709A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F6F"/>
                </a:solidFill>
              </a:defRPr>
            </a:pPr>
            <a:r>
              <a:rPr sz="1050" b="1">
                <a:solidFill>
                  <a:srgbClr val="0E8F6F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70E66-030B-4AFB-B1C9-109A1BB8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480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A66"/>
                </a:solidFill>
              </a:defRPr>
            </a:pPr>
            <a:r>
              <a:rPr sz="1050" b="1">
                <a:solidFill>
                  <a:srgbClr val="5E6A66"/>
                </a:solidFill>
              </a:rPr>
              <a:t>研究背景与意义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557AA0-9E92-47FF-A2D3-E9209F29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048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02 / 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A63D9-BBDE-40F6-8B6D-3AF3F84F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9FD11-7E04-4C0B-939E-07CF19AD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95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D"/>
                </a:solidFill>
              </a:defRPr>
            </a:pPr>
            <a:r>
              <a:rPr sz="2550" b="1">
                <a:solidFill>
                  <a:srgbClr val="17201D"/>
                </a:solidFill>
              </a:rPr>
              <a:t>研究背景与意义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326EA-A434-41A9-A929-FA1BCD2E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66"/>
                </a:solidFill>
              </a:defRPr>
            </a:pPr>
            <a:r>
              <a:rPr sz="1275" b="0">
                <a:solidFill>
                  <a:srgbClr val="5E6A66"/>
                </a:solidFill>
              </a:rPr>
              <a:t>视障出行需要把“看见环境”和“理解环境”转化为低负担、实时的语音提示。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EABF45-172C-4F5F-A171-FE95263A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27628-E93A-4ED4-A2A0-414E9802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2F47FC-6F33-4B65-B800-788A4103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3EB"/>
          </a:solidFill>
          <a:ln xmlns:a="http://schemas.openxmlformats.org/drawingml/2006/main" w="11430">
            <a:solidFill>
              <a:srgbClr val="0E8F6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0D839F-058E-4BD3-8519-41190F51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7177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8F6F"/>
                </a:solidFill>
              </a:defRPr>
            </a:pPr>
            <a:r>
              <a:rPr sz="975" b="1">
                <a:solidFill>
                  <a:srgbClr val="0E8F6F"/>
                </a:solidFill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B24DD6-9FC8-4F6F-8E23-7079E5F3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14625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实时环境感知不足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89E01E-E724-4192-979A-ECAC66C6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2647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66"/>
                </a:solidFill>
              </a:defRPr>
            </a:pPr>
            <a:r>
              <a:rPr sz="1125" b="0">
                <a:solidFill>
                  <a:srgbClr val="5E6A66"/>
                </a:solidFill>
              </a:rPr>
              <a:t>传统辅助方式难以及时识别盲道偏离、前方障碍、斑马线位置和红绿灯状态。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35E151-9573-4E3B-8E95-61C8C827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9D08B4-73B5-447C-B9B7-92C54BFB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273A12-3082-425B-8008-5B65C73C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05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1F6"/>
          </a:solidFill>
          <a:ln xmlns:a="http://schemas.openxmlformats.org/drawingml/2006/main" w="11430">
            <a:solidFill>
              <a:srgbClr val="2C8F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AFFA3C-EBF2-4966-AEC9-AD079430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7177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C8FB8"/>
                </a:solidFill>
              </a:defRPr>
            </a:pPr>
            <a:r>
              <a:rPr sz="975" b="1">
                <a:solidFill>
                  <a:srgbClr val="2C8FB8"/>
                </a:solidFill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80C25B-9230-4F0D-A47A-33C1F282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714625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交互方式不够自然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FB8EE6-0EED-476D-9CBB-2FDADEED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24200"/>
            <a:ext cx="2647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66"/>
                </a:solidFill>
              </a:defRPr>
            </a:pPr>
            <a:r>
              <a:rPr sz="1125" b="0">
                <a:solidFill>
                  <a:srgbClr val="5E6A66"/>
                </a:solidFill>
              </a:rPr>
              <a:t>用户在行走时不适合频繁看屏幕，需要通过语音命令启动导航、问答或寻物流程。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32218F-AF49-4A27-B170-F424CDF1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765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55D695-9241-4C29-8856-C35E2646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765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1CD438-3D28-4712-888A-CB96BE8C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05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D2"/>
          </a:solidFill>
          <a:ln xmlns:a="http://schemas.openxmlformats.org/drawingml/2006/main" w="11430">
            <a:solidFill>
              <a:srgbClr val="D29A2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527A2C-BACE-413C-A089-17A4B847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7177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29A2E"/>
                </a:solidFill>
              </a:defRPr>
            </a:pPr>
            <a:r>
              <a:rPr sz="975" b="1">
                <a:solidFill>
                  <a:srgbClr val="D29A2E"/>
                </a:solidFill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83CAC0-87A3-4572-A082-6656936B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14625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落地成本与调试难度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39D0EF-B0A9-41C0-9521-27ECF48D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24200"/>
            <a:ext cx="2647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66"/>
                </a:solidFill>
              </a:defRPr>
            </a:pPr>
            <a:r>
              <a:rPr sz="1125" b="0">
                <a:solidFill>
                  <a:srgbClr val="5E6A66"/>
                </a:solidFill>
              </a:rPr>
              <a:t>端侧设备算力有限，系统还要兼顾低成本硬件、服务器推理、远程调试与部署维护。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118E30-4C56-40DD-B45A-4B67BF7E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67300"/>
            <a:ext cx="971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231E"/>
          </a:solidFill>
          <a:ln xmlns:a="http://schemas.openxmlformats.org/drawingml/2006/main" w="0">
            <a:solidFill>
              <a:srgbClr val="10211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656A2D-65F5-4F98-8ECA-D951587B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578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B37E"/>
                </a:solidFill>
              </a:defRPr>
            </a:pPr>
            <a:r>
              <a:rPr sz="1200" b="1">
                <a:solidFill>
                  <a:srgbClr val="35B37E"/>
                </a:solidFill>
              </a:rPr>
              <a:t>本设计目标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E601F4-B32B-4F08-A064-611BD31A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248275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用智能眼镜采集第一视角画面和语音，通过服务器侧视觉模型与实时 AI，把导航判断变成设备端可播放的中文提示。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40c2eaaa104126"/>
          <a:stretch xmlns:a="http://schemas.openxmlformats.org/drawingml/2006/main"/>
        </p:blipFill>
        <p:spPr>
          <a:xfrm xmlns:a="http://schemas.openxmlformats.org/drawingml/2006/main">
            <a:off x="10765123" y="5857875"/>
            <a:ext cx="434403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448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A7821A-DA1F-4AB9-978C-E00C821457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D9D0E-1439-4EEB-B918-7F934BB2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0D792-C5F2-4E69-A2B7-FB27F723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A12F5-CDAF-4CD6-86F7-A18E2338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76300" y="4914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11F18-CB76-4EF3-A09A-213A4EBA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-114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2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62069-4E5D-4348-8795-BC2E8C4C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C2961-AF7D-4BBC-B1EA-A1ABB3F1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AC02D-8B09-4FE7-882C-A5F1B430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452C6-8A3A-49C1-BB68-23AD35DF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85C23-6981-4D5C-9DE3-4382C7CF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184FF-1DDB-456A-A987-586CE58C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6B5A86-461A-41E9-BD6F-8FABB729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9E389-49BD-4ABD-9D50-9C75B965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E2F13-55FE-4DFC-BDFC-2C8FA590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F6F"/>
                </a:solidFill>
              </a:defRPr>
            </a:pPr>
            <a:r>
              <a:rPr sz="1050" b="1">
                <a:solidFill>
                  <a:srgbClr val="0E8F6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F83BC-4388-41B8-A666-8F3B09A7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480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A66"/>
                </a:solidFill>
              </a:defRPr>
            </a:pPr>
            <a:r>
              <a:rPr sz="1050" b="1">
                <a:solidFill>
                  <a:srgbClr val="5E6A66"/>
                </a:solidFill>
              </a:rPr>
              <a:t>需求分析与目标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3BA5A-5F16-41CF-A81D-A52DFB99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048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03 / 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AC878-BA0B-402F-A4C9-7661E4DA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C46A6D-EA78-4693-825D-0A1B1F12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95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D"/>
                </a:solidFill>
              </a:defRPr>
            </a:pPr>
            <a:r>
              <a:rPr sz="2550" b="1">
                <a:solidFill>
                  <a:srgbClr val="17201D"/>
                </a:solidFill>
              </a:rPr>
              <a:t>需求分析与设计目标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24DB36-EBEC-448F-B7FC-0D4640EA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66"/>
                </a:solidFill>
              </a:defRPr>
            </a:pPr>
            <a:r>
              <a:rPr sz="1275" b="0">
                <a:solidFill>
                  <a:srgbClr val="5E6A66"/>
                </a:solidFill>
              </a:rPr>
              <a:t>围绕出行安全、交互效率和工程可落地性，把系统目标拆成 6 个可验证方向。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F315E-DDD2-4736-8F59-E60EB6C4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105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F5FD17-27A4-44B5-B490-7DFE1E18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75481E-509B-4D8D-90AF-3A6E7E3E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62225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实时性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C4C73E-4D18-49B5-8BDA-ADFAC252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66"/>
                </a:solidFill>
              </a:defRPr>
            </a:pPr>
            <a:r>
              <a:rPr sz="1050" b="0">
                <a:solidFill>
                  <a:srgbClr val="5E6A66"/>
                </a:solidFill>
              </a:rPr>
              <a:t>视频帧、语音流和导航提示需要低延迟闭环，减少行走过程中的滞后感。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238705-7305-43D4-AC43-9F612880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3105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2CC714-B881-433A-AE0F-8D20A5B8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45BD24-86A9-40CC-AFCD-22CA0DC1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62225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低成本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DC76B8-1628-43E2-9CD3-31AE5A04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90850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66"/>
                </a:solidFill>
              </a:defRPr>
            </a:pPr>
            <a:r>
              <a:rPr sz="1050" b="0">
                <a:solidFill>
                  <a:srgbClr val="5E6A66"/>
                </a:solidFill>
              </a:rPr>
              <a:t>使用 ESP32-S3 Sense 等低成本硬件，把重推理任务放到服务器。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749481-9DAD-4149-ACEC-674AA396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3105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4E7693-4107-454D-B929-B4901890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1B5FAF-76FB-4418-9143-23EFE20B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62225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多模式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B9429F-3B7A-4636-9C1A-19C24076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90850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66"/>
                </a:solidFill>
              </a:defRPr>
            </a:pPr>
            <a:r>
              <a:rPr sz="1050" b="0">
                <a:solidFill>
                  <a:srgbClr val="5E6A66"/>
                </a:solidFill>
              </a:rPr>
              <a:t>支持导盲、过街、红绿灯检测、寻物和普通问答等模式切换。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624D67-CDB3-4FCD-BB8A-226CB6A5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3105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9383BF-33FB-4296-86C0-C2B6DD05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C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F47B66-DF6A-4559-A4B5-7C689A69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81475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可扩展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774169-3F78-4AB2-88DE-0F4D3B73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66"/>
                </a:solidFill>
              </a:defRPr>
            </a:pPr>
            <a:r>
              <a:rPr sz="1050" b="0">
                <a:solidFill>
                  <a:srgbClr val="5E6A66"/>
                </a:solidFill>
              </a:rPr>
              <a:t>后端通过 worker API 和 skill registry 组织视觉能力，方便继续加模型。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5090FC-92D0-4F73-AB4F-10E6A8A8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62400"/>
            <a:ext cx="3105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785394-5ED1-476F-8048-23F695CD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624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DE13F8-476A-4655-BB68-DE5B4774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81475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可调试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76FB5B-C674-429B-9235-636BA38E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10100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66"/>
                </a:solidFill>
              </a:defRPr>
            </a:pPr>
            <a:r>
              <a:rPr sz="1050" b="0">
                <a:solidFill>
                  <a:srgbClr val="5E6A66"/>
                </a:solidFill>
              </a:rPr>
              <a:t>前端展示实时画面、标注图、模式状态、语音事件和流质量指标。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73DEC3-0EAA-4437-B9D0-061221D2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3105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BF0092-2DC8-4EDC-9E02-F1306E68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3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09F45D-142F-4E55-8C4C-63447AEC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81475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可部署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9E2655-3601-4A15-8DF2-DAF3CB05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10100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66"/>
                </a:solidFill>
              </a:defRPr>
            </a:pPr>
            <a:r>
              <a:rPr sz="1050" b="0">
                <a:solidFill>
                  <a:srgbClr val="5E6A66"/>
                </a:solidFill>
              </a:rPr>
              <a:t>提供 Windows/Linux 启动脚本、Nginx/systemd 部署说明和验收命令。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54cc928fb483a"/>
          <a:stretch xmlns:a="http://schemas.openxmlformats.org/drawingml/2006/main"/>
        </p:blipFill>
        <p:spPr>
          <a:xfrm xmlns:a="http://schemas.openxmlformats.org/drawingml/2006/main">
            <a:off x="10765123" y="5857875"/>
            <a:ext cx="434403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653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A7821A-DA1F-4AB9-978C-E00C821457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8C1A7-A2AF-4F0C-B68D-7459C3F5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EFDD7-A4C5-4952-9AAC-2B3B907A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0DACA-4485-48E6-9B8A-9DC0810D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76300" y="4914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78E6B-38F7-4D62-BC1B-90F7FAF1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-114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2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24DCF-462C-43D8-BA7F-A8BC6909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34E7F-594F-4D17-882D-C18B5200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65EDB-59C9-47CC-99C4-4624AC8F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01AC7-4F97-4555-95CF-10CC6A08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C4BE7-674C-47F0-AE75-5953F3FA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49712-9FB9-4736-A6F6-A8883547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8EA07-866C-438F-B3DA-CEAFF2A1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1E4B6-E99F-4A4C-B1AD-EC54E861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5E969-EB61-4974-A752-232D6B62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F6F"/>
                </a:solidFill>
              </a:defRPr>
            </a:pPr>
            <a:r>
              <a:rPr sz="1050" b="1">
                <a:solidFill>
                  <a:srgbClr val="0E8F6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796C38-5788-4ABE-A121-38039B82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480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A66"/>
                </a:solidFill>
              </a:defRPr>
            </a:pPr>
            <a:r>
              <a:rPr sz="1050" b="1">
                <a:solidFill>
                  <a:srgbClr val="5E6A66"/>
                </a:solidFill>
              </a:rPr>
              <a:t>系统总体架构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EAC7F8-409D-4A1C-8C11-4C28400B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048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04 / 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DCD178-C0B6-45CE-A4FF-92518844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6DE2AC-2049-4D5D-B251-214A44F7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95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D"/>
                </a:solidFill>
              </a:defRPr>
            </a:pPr>
            <a:r>
              <a:rPr sz="2550" b="1">
                <a:solidFill>
                  <a:srgbClr val="17201D"/>
                </a:solidFill>
              </a:rPr>
              <a:t>系统总体架构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76E9FA-D70B-4DD6-B3FD-53E3E517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66"/>
                </a:solidFill>
              </a:defRPr>
            </a:pPr>
            <a:r>
              <a:rPr sz="1275" b="0">
                <a:solidFill>
                  <a:srgbClr val="5E6A66"/>
                </a:solidFill>
              </a:rPr>
              <a:t>采用端侧采集 + 服务器编排 + 视觉 worker + 实时 AI + Web 控制台的协同架构。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957A94-9109-414C-AC93-DC4AA23C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DB6B04-0A87-488E-A174-E48647B1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81300"/>
            <a:ext cx="1619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392177-1F0C-492C-8473-85B6B574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905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50615F-7DFD-47BA-BD41-D37014EC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81300"/>
            <a:ext cx="1905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531EA9-9DBB-47DD-AE0A-318377D3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8130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60CD87-25F6-4031-BFD7-F4C52B89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ESP32 眼镜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177ADC-FB09-4C0C-AFE4-B43C49F3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A66"/>
                </a:solidFill>
              </a:defRPr>
            </a:pPr>
            <a:r>
              <a:rPr sz="1050" b="0">
                <a:solidFill>
                  <a:srgbClr val="5E6A66"/>
                </a:solidFill>
              </a:rPr>
              <a:t>摄像头 / 麦克风</a:t>
            </a:r>
          </a:p>
          <a:p xmlns:a="http://schemas.openxmlformats.org/drawingml/2006/main">
            <a:pPr algn="ctr">
              <a:defRPr sz="1050" b="0">
                <a:solidFill>
                  <a:srgbClr val="5E6A66"/>
                </a:solidFill>
              </a:defRPr>
            </a:pPr>
            <a:r>
              <a:rPr sz="1050" b="0">
                <a:solidFill>
                  <a:srgbClr val="5E6A66"/>
                </a:solidFill>
              </a:rPr>
              <a:t>设备端扬声器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21D79B-467D-4E5A-BD10-BC66BE99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8F6F"/>
                </a:solidFill>
              </a:defRPr>
            </a:pPr>
            <a:r>
              <a:rPr sz="1350" b="1">
                <a:solidFill>
                  <a:srgbClr val="0E8F6F"/>
                </a:solidFill>
              </a:rPr>
              <a:t>UDP 8888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14C284-208F-48C9-8056-F63AB647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音频、视频、播放回包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169395-5C70-44D3-9E1A-C0EA0DE9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9085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Go 后端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3E3B89-3466-480B-8371-E6A4EED2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3375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HTTP / WS / UDP</a:t>
            </a:r>
          </a:p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状态与流媒体编排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8CFE68-BE25-4858-AB22-9B8A0E8B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908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Python Worker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264404-ED88-471D-BF60-B434EBA5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3375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盲道、障碍物</a:t>
            </a:r>
          </a:p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斑马线、红绿灯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2F4F18-B1DF-4FA1-B320-6299ADF5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908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AI / 前端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418151-663D-4C7E-A822-588EF5B7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3375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DashScope</a:t>
            </a:r>
          </a:p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Vue 控制台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F20637-C409-457E-8959-96FD53A7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86125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2641C2-DA52-4735-BDBF-5BBDECA8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86125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42E7C0-1879-47FD-95F9-987A66A9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86125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8FC39E-A9AD-49BD-B0E5-D4AAA940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86125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B29352-C18E-4C65-9335-67387808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19650"/>
            <a:ext cx="9296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231E"/>
          </a:solidFill>
          <a:ln xmlns:a="http://schemas.openxmlformats.org/drawingml/2006/main" w="0">
            <a:solidFill>
              <a:srgbClr val="10211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732176-84CD-434B-9330-1C2AFEE1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387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B37E"/>
                </a:solidFill>
              </a:defRPr>
            </a:pPr>
            <a:r>
              <a:rPr sz="1200" b="1">
                <a:solidFill>
                  <a:srgbClr val="35B37E"/>
                </a:solidFill>
              </a:rPr>
              <a:t>核心闭环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44B674-C25E-4873-83EF-A2336D21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29200"/>
            <a:ext cx="7105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采集画面/语音 → 后端组包与分发 → 模型推理/AI 问答 → 返回标注画面与中文语音提示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757c3c55e4645"/>
          <a:stretch xmlns:a="http://schemas.openxmlformats.org/drawingml/2006/main"/>
        </p:blipFill>
        <p:spPr>
          <a:xfrm xmlns:a="http://schemas.openxmlformats.org/drawingml/2006/main">
            <a:off x="10765123" y="5857875"/>
            <a:ext cx="434403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0313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A7821A-DA1F-4AB9-978C-E00C821457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F56C0-DAB3-42D7-9B90-193D3A0C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4AC9C-D704-435A-98DE-DAD36B39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89EEF-A89A-44E7-A886-89F19A10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76300" y="4914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EEEBF-8BCD-4CF3-9E62-362FAA63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-114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2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604DC-965B-45ED-A4A0-8F7FF1F9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0576F-2857-409F-B4CD-0683FF5A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75001-509E-473F-99E0-D4E15F6A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D7E6E-1F4B-4D70-933E-D59CD583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A7BDB-B099-4FCB-879F-3352B852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73FAA-DE20-46C9-B575-B0E21498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9A049-5A5E-4674-989B-75B5826C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F84395-2A73-4FBB-BB2D-1B224053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578C2-F841-4961-BB58-9BDF2384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F6F"/>
                </a:solidFill>
              </a:defRPr>
            </a:pPr>
            <a:r>
              <a:rPr sz="1050" b="1">
                <a:solidFill>
                  <a:srgbClr val="0E8F6F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61E3B-B976-41E0-BC7C-64CCB50D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480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A66"/>
                </a:solidFill>
              </a:defRPr>
            </a:pPr>
            <a:r>
              <a:rPr sz="1050" b="1">
                <a:solidFill>
                  <a:srgbClr val="5E6A66"/>
                </a:solidFill>
              </a:rPr>
              <a:t>硬件与通信方案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F59D5-533B-451C-9F8F-FAFD7272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048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05 / 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190A31-19D5-47B7-B38E-5994D29A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FE11CA-35B3-48C7-90E3-571A59B1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95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D"/>
                </a:solidFill>
              </a:defRPr>
            </a:pPr>
            <a:r>
              <a:rPr sz="2550" b="1">
                <a:solidFill>
                  <a:srgbClr val="17201D"/>
                </a:solidFill>
              </a:rPr>
              <a:t>硬件与通信方案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8C1CB6-C21E-46E2-AD62-6F34125E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66"/>
                </a:solidFill>
              </a:defRPr>
            </a:pPr>
            <a:r>
              <a:rPr sz="1275" b="0">
                <a:solidFill>
                  <a:srgbClr val="5E6A66"/>
                </a:solidFill>
              </a:rPr>
              <a:t>端侧只承担采集、编码、上报和播放，复杂推理放在服务器侧完成。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0F45D2-E857-45CF-9A82-63104886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44767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803E3E-74A9-4D08-AD77-2392B013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19400"/>
            <a:ext cx="22288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E2524"/>
          </a:solidFill>
          <a:ln xmlns:a="http://schemas.openxmlformats.org/drawingml/2006/main" w="11430">
            <a:solidFill>
              <a:srgbClr val="17201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6C109-833F-468A-877C-A269C583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86100"/>
            <a:ext cx="18478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B3431"/>
          </a:solidFill>
          <a:ln xmlns:a="http://schemas.openxmlformats.org/drawingml/2006/main" w="9525">
            <a:solidFill>
              <a:srgbClr val="55615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1B6BC6-C021-4C23-B64D-BB024ACF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3051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210"/>
          </a:solidFill>
          <a:ln xmlns:a="http://schemas.openxmlformats.org/drawingml/2006/main" w="28575">
            <a:solidFill>
              <a:srgbClr val="86918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FA4CBA-8D8D-4D40-8EE3-FF014D31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48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B3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89C7C8-687D-4E6D-9BBC-9F2741FE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57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38CF9E-290C-4523-A4E8-38B61E30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57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AE1B14-8AA1-448D-BD12-E548913C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933825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DE6E0"/>
                </a:solidFill>
              </a:defRPr>
            </a:pPr>
            <a:r>
              <a:rPr sz="750" b="0">
                <a:solidFill>
                  <a:srgbClr val="DDE6E0"/>
                </a:solidFill>
              </a:rPr>
              <a:t>CAM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691AC5-518E-4856-B706-DEC79279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196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1D"/>
                </a:solidFill>
              </a:defRPr>
            </a:pPr>
            <a:r>
              <a:rPr sz="1500" b="1">
                <a:solidFill>
                  <a:srgbClr val="17201D"/>
                </a:solidFill>
              </a:rPr>
              <a:t>XIAO ESP32S3 Sense 原型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638EFB-D310-46D6-ADCC-40BCAA3C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62550"/>
            <a:ext cx="3181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A66"/>
                </a:solidFill>
              </a:defRPr>
            </a:pPr>
            <a:r>
              <a:rPr sz="1125" b="0">
                <a:solidFill>
                  <a:srgbClr val="5E6A66"/>
                </a:solidFill>
              </a:rPr>
              <a:t>Camera：第一视角画面</a:t>
            </a:r>
          </a:p>
          <a:p xmlns:a="http://schemas.openxmlformats.org/drawingml/2006/main">
            <a:pPr algn="ctr">
              <a:defRPr sz="1125" b="0">
                <a:solidFill>
                  <a:srgbClr val="5E6A66"/>
                </a:solidFill>
              </a:defRPr>
            </a:pPr>
            <a:r>
              <a:rPr sz="1125" b="0">
                <a:solidFill>
                  <a:srgbClr val="5E6A66"/>
                </a:solidFill>
              </a:rPr>
              <a:t>PDM Mic：语音输入</a:t>
            </a:r>
          </a:p>
          <a:p xmlns:a="http://schemas.openxmlformats.org/drawingml/2006/main">
            <a:pPr algn="ctr">
              <a:defRPr sz="1125" b="0">
                <a:solidFill>
                  <a:srgbClr val="5E6A66"/>
                </a:solidFill>
              </a:defRPr>
            </a:pPr>
            <a:r>
              <a:rPr sz="1125" b="0">
                <a:solidFill>
                  <a:srgbClr val="5E6A66"/>
                </a:solidFill>
              </a:rPr>
              <a:t>I2S Speaker：导航/AI 音频播放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AA29BB-5EC4-480F-AE1C-3E010E3F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D"/>
                </a:solidFill>
              </a:defRPr>
            </a:pPr>
            <a:r>
              <a:rPr sz="1650" b="1">
                <a:solidFill>
                  <a:srgbClr val="17201D"/>
                </a:solidFill>
              </a:rPr>
              <a:t>通信包类型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AFD34F-F633-4921-A98A-66EC449D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093C05-C743-4A14-AEF7-E8013B08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839BA0-8E58-4660-B5C4-C8C6D7DC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95575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8F6F"/>
                </a:solidFill>
              </a:defRPr>
            </a:pPr>
            <a:r>
              <a:rPr sz="1125" b="1">
                <a:solidFill>
                  <a:srgbClr val="0E8F6F"/>
                </a:solidFill>
              </a:rPr>
              <a:t>hello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447642-755C-432C-8B49-48FEFE0B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05100"/>
            <a:ext cx="933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设备 → 后端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A82189-5319-4D97-AD01-934C215D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86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D"/>
                </a:solidFill>
              </a:defRPr>
            </a:pPr>
            <a:r>
              <a:rPr sz="1050" b="0">
                <a:solidFill>
                  <a:srgbClr val="17201D"/>
                </a:solidFill>
              </a:rPr>
              <a:t>token、设备能力、扬声器状态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67F434-E20B-4918-AED9-A15B6BC5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0400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FD57E-9DE7-49B2-8C69-33DB0FD3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04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2CDAB7-8068-4EFC-9CE4-FD6EC4B5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24225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8FB8"/>
                </a:solidFill>
              </a:defRPr>
            </a:pPr>
            <a:r>
              <a:rPr sz="1125" b="1">
                <a:solidFill>
                  <a:srgbClr val="2C8FB8"/>
                </a:solidFill>
              </a:rPr>
              <a:t>video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E56F99-F338-48B5-844B-B4DC3350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933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设备 → 后端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8A1497-19BA-4284-8769-8E823090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14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D"/>
                </a:solidFill>
              </a:defRPr>
            </a:pPr>
            <a:r>
              <a:rPr sz="1050" b="0">
                <a:solidFill>
                  <a:srgbClr val="17201D"/>
                </a:solidFill>
              </a:rPr>
              <a:t>JPEG 分片、帧序号、时间戳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BE32D5-4E88-4491-83D4-9592E592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BE41F0-1F39-4165-AFAD-43379C21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D27D2B-602B-44E1-90A2-A5797CDB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52875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29A2E"/>
                </a:solidFill>
              </a:defRPr>
            </a:pPr>
            <a:r>
              <a:rPr sz="1125" b="1">
                <a:solidFill>
                  <a:srgbClr val="D29A2E"/>
                </a:solidFill>
              </a:rPr>
              <a:t>audio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58774D-3FC0-4105-8433-A10A5BB4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62400"/>
            <a:ext cx="933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设备 → 后端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8BE383-8EB5-473B-93E6-0664894D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433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D"/>
                </a:solidFill>
              </a:defRPr>
            </a:pPr>
            <a:r>
              <a:rPr sz="1050" b="0">
                <a:solidFill>
                  <a:srgbClr val="17201D"/>
                </a:solidFill>
              </a:rPr>
              <a:t>PCM16 音频分片、序列号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E668D8-8EF1-4379-B4C1-DB397E3A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4E7440-24FB-44A2-AC27-9BF0601B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9A105F-7B2B-49CB-BC87-C89D4FA8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81525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624B"/>
                </a:solidFill>
              </a:defRPr>
            </a:pPr>
            <a:r>
              <a:rPr sz="1125" b="1">
                <a:solidFill>
                  <a:srgbClr val="D8624B"/>
                </a:solidFill>
              </a:rPr>
              <a:t>ai_audio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A5CF73-13A0-42F7-B622-B590242B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91050"/>
            <a:ext cx="933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后端 → 设备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12B626-615F-46B5-ACD9-12C1DBBE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D"/>
                </a:solidFill>
              </a:defRPr>
            </a:pPr>
            <a:r>
              <a:rPr sz="1050" b="0">
                <a:solidFill>
                  <a:srgbClr val="17201D"/>
                </a:solidFill>
              </a:rPr>
              <a:t>导航 wav / AI PCM 回放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CD0320-A866-44EE-8BEA-C5CB2E58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86350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5A8931-98FC-4BE1-B1CB-55AC6FCD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863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C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4DB6CF1-7200-4B1E-818E-8771276D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10175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5CB8"/>
                </a:solidFill>
              </a:defRPr>
            </a:pPr>
            <a:r>
              <a:rPr sz="1125" b="1">
                <a:solidFill>
                  <a:srgbClr val="6F5CB8"/>
                </a:solidFill>
              </a:rPr>
              <a:t>control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FD6CEAD-A49D-4BDC-A4A5-39CFB261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933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前端 → 后端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1256C1-E546-4919-AADF-ABCE1BDD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200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D"/>
                </a:solidFill>
              </a:defRPr>
            </a:pPr>
            <a:r>
              <a:rPr sz="1050" b="0">
                <a:solidFill>
                  <a:srgbClr val="17201D"/>
                </a:solidFill>
              </a:rPr>
              <a:t>模式切换、视觉 worker 指令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7eb877ea24a8e"/>
          <a:stretch xmlns:a="http://schemas.openxmlformats.org/drawingml/2006/main"/>
        </p:blipFill>
        <p:spPr>
          <a:xfrm xmlns:a="http://schemas.openxmlformats.org/drawingml/2006/main">
            <a:off x="10765123" y="5857875"/>
            <a:ext cx="434403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7563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A7821A-DA1F-4AB9-978C-E00C821457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DF661-41F3-4CB9-AECB-95D98E40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0089B-C71E-4570-B0D5-89CC8F0A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570C2-4374-42BD-8907-26D63BB7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76300" y="4914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8D719-C5F3-441A-B391-D06C6629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-114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2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D3E69-F2E2-439C-A7DB-13E6BA64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3C935-6FFD-4F7B-A513-76ECADE9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C017C-C294-41CB-BD03-7F11F935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024F2-DD71-4E94-9EA1-F7A23054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70D01-60FE-4BA8-A1B1-6EBB37AD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743AE-E6F8-482F-942D-8A570621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882AE-B637-4363-8006-10F711F5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3F73E-A7E6-43CF-9A70-EF0D2595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C4842-9508-4AA7-BE20-A3E0754D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F6F"/>
                </a:solidFill>
              </a:defRPr>
            </a:pPr>
            <a:r>
              <a:rPr sz="1050" b="1">
                <a:solidFill>
                  <a:srgbClr val="0E8F6F"/>
                </a:solidFill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86E78-E261-4B92-BFAF-CB5FEC67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480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A66"/>
                </a:solidFill>
              </a:defRPr>
            </a:pPr>
            <a:r>
              <a:rPr sz="1050" b="1">
                <a:solidFill>
                  <a:srgbClr val="5E6A66"/>
                </a:solidFill>
              </a:rPr>
              <a:t>软件模块划分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78BEF6-3F95-4E8D-9B22-D0CF13D7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048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06 / 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889890-A628-46FE-AD1D-FD1F6B0C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75786-1028-40C5-9FEE-2116A7DF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95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D"/>
                </a:solidFill>
              </a:defRPr>
            </a:pPr>
            <a:r>
              <a:rPr sz="2550" b="1">
                <a:solidFill>
                  <a:srgbClr val="17201D"/>
                </a:solidFill>
              </a:rPr>
              <a:t>软件模块划分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D71FB-960C-48FB-9AB5-E1DA02A6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66"/>
                </a:solidFill>
              </a:defRPr>
            </a:pPr>
            <a:r>
              <a:rPr sz="1275" b="0">
                <a:solidFill>
                  <a:srgbClr val="5E6A66"/>
                </a:solidFill>
              </a:rPr>
              <a:t>项目按职责分为固件、Go 后端、Python 视觉 worker、Vue 前端和部署资产。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A65DB-E03E-4C49-9F8B-26E80A54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32385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31FE5C-9722-4A4E-BB26-973B4B4B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6667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ED8E68-F9C4-4939-A2EB-22AD1A75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8602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固件层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033446-1D2F-47A0-B91F-B5A69EFE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2743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firmware/xiao_sense_ws_stream</a:t>
            </a:r>
          </a:p>
          <a:p xmlns:a="http://schemas.openxmlformats.org/drawingml/2006/main">
            <a:pPr algn="l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网络、队列、摄像头、麦克风、扬声器播放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AC654C-25A6-4C8F-AADD-88B4C778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32385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CE0F89-49E6-4F51-A06C-11ABF55F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6667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005EF6-0579-4BD6-86CA-434A7F05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8602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后端层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EBF6EB-A095-45CA-8EFE-86C41818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14650"/>
            <a:ext cx="2743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server/internal/serverapp</a:t>
            </a:r>
          </a:p>
          <a:p xmlns:a="http://schemas.openxmlformats.org/drawingml/2006/main">
            <a:pPr algn="l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UDP ingest、WebSocket、DashScope、worker bridge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400602-D0C1-485D-9484-7CDDA666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32385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E86A06-4ABF-4100-8A45-8AE8028B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6667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C1758E-819B-4A07-A419-B40FC675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8602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视觉层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1CBBFF-83A1-48AB-8B0F-679E0D6D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14650"/>
            <a:ext cx="2743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python_worker</a:t>
            </a:r>
          </a:p>
          <a:p xmlns:a="http://schemas.openxmlformats.org/drawingml/2006/main">
            <a:pPr algn="l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导盲、过街、红绿灯、寻物、语音命令处理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660B01-E35D-495F-9695-4CF3BB11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91000"/>
            <a:ext cx="36195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BDF2AA-5205-4ADE-A6CD-96A254C7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91000"/>
            <a:ext cx="6667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A1FBB7-91F7-478B-892C-1786D157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10075"/>
            <a:ext cx="3124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前端层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47AFB7-5719-4261-8137-2A983B23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38700"/>
            <a:ext cx="3124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esp32-glass-front/src</a:t>
            </a:r>
          </a:p>
          <a:p xmlns:a="http://schemas.openxmlformats.org/drawingml/2006/main">
            <a:pPr algn="l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实时画面、模式切换、音频播放、状态面板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25ED94-ED90-4BBD-B117-65CD162E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91000"/>
            <a:ext cx="36195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3A7C78-BD09-4B0D-A1F6-E690872D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91000"/>
            <a:ext cx="6667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C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8F8C4C-55A2-4270-9C19-E15B0DC8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10075"/>
            <a:ext cx="3124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部署资产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65DD85-263D-45C3-BDE0-A6A75CDF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38700"/>
            <a:ext cx="3124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LINUX_DEPLOY / SERVER_DEPLOY</a:t>
            </a:r>
          </a:p>
          <a:p xmlns:a="http://schemas.openxmlformats.org/drawingml/2006/main">
            <a:pPr algn="l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模型文件、脚本、Nginx、systemd、验收命令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B06A72-D47D-47B7-BBF8-09926A62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97155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A702B9-90FC-42EF-BD7B-9831D376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9715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FAD715-9623-49D3-A436-6964E51D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20015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1D"/>
                </a:solidFill>
              </a:defRPr>
            </a:pPr>
            <a:r>
              <a:rPr sz="2250" b="1">
                <a:solidFill>
                  <a:srgbClr val="17201D"/>
                </a:solidFill>
              </a:rPr>
              <a:t>62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20EC8C-F112-4872-99D3-E97CE5DD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145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66"/>
                </a:solidFill>
              </a:defRPr>
            </a:pPr>
            <a:r>
              <a:rPr sz="1125" b="0">
                <a:solidFill>
                  <a:srgbClr val="5E6A66"/>
                </a:solidFill>
              </a:rPr>
              <a:t>主要源码文件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3E7D9D-EFF5-4300-B789-75E74866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5811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66"/>
                </a:solidFill>
              </a:defRPr>
            </a:pPr>
            <a:r>
              <a:rPr sz="750" b="0">
                <a:solidFill>
                  <a:srgbClr val="5E6A66"/>
                </a:solidFill>
              </a:rPr>
              <a:t>不含 dist / node_modules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8E2C8D-154E-43C7-9C1F-4658CC8C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1930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A98413-39E4-49D7-885B-07654BE7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1930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5D4606-390D-4F45-B14A-64CC3A5A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4790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1D"/>
                </a:solidFill>
              </a:defRPr>
            </a:pPr>
            <a:r>
              <a:rPr sz="2250" b="1">
                <a:solidFill>
                  <a:srgbClr val="17201D"/>
                </a:solidFill>
              </a:rPr>
              <a:t>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2BA0A0-F989-4F81-A027-B082A6AD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622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66"/>
                </a:solidFill>
              </a:defRPr>
            </a:pPr>
            <a:r>
              <a:rPr sz="1125" b="0">
                <a:solidFill>
                  <a:srgbClr val="5E6A66"/>
                </a:solidFill>
              </a:rPr>
              <a:t>运行服务入口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132659-DF86-4CCA-916B-6DCCD345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289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66"/>
                </a:solidFill>
              </a:defRPr>
            </a:pPr>
            <a:r>
              <a:rPr sz="750" b="0">
                <a:solidFill>
                  <a:srgbClr val="5E6A66"/>
                </a:solidFill>
              </a:rPr>
              <a:t>ESP32 / Go / Worker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3f65962d64fb7"/>
          <a:stretch xmlns:a="http://schemas.openxmlformats.org/drawingml/2006/main"/>
        </p:blipFill>
        <p:spPr>
          <a:xfrm xmlns:a="http://schemas.openxmlformats.org/drawingml/2006/main">
            <a:off x="10765123" y="5857875"/>
            <a:ext cx="434403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3417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A7821A-DA1F-4AB9-978C-E00C821457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FC5F0-0445-4F88-923E-33DC3D57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07CCC-3C03-43EA-896A-27B84074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80B19-C59B-4E4C-B4BA-10541C4D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76300" y="4914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5421F-2922-47FC-ACCC-FBBE23FD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-114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2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ED4BF-3DDE-45DF-B97E-4D34B9FD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BC587-DF02-475F-B43A-8238654F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5AFE4F-3B24-4CF2-A547-B78E58DF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5CF55-EEBC-4BE0-9948-1FFD21EE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F7813-1690-4CE4-ADC1-0A1AEA89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4DE370-4F3C-477F-805B-63BF6BD7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63BD04-B6E0-477A-BCD6-F65A0432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C3B58-35DE-4773-B170-66249295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5DA21-BB49-4855-BD70-BB880B9C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F6F"/>
                </a:solidFill>
              </a:defRPr>
            </a:pPr>
            <a:r>
              <a:rPr sz="1050" b="1">
                <a:solidFill>
                  <a:srgbClr val="0E8F6F"/>
                </a:solidFill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E09DB-0F32-47AD-9E05-80C5329E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480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A66"/>
                </a:solidFill>
              </a:defRPr>
            </a:pPr>
            <a:r>
              <a:rPr sz="1050" b="1">
                <a:solidFill>
                  <a:srgbClr val="5E6A66"/>
                </a:solidFill>
              </a:rPr>
              <a:t>导盲路径算法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EDE57-6D09-4B50-8337-D8664735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048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07 / 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46BD97-1EF5-45C2-9ED5-D5C85F91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339C80-B5EC-4364-9BFC-4C4D20D8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95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D"/>
                </a:solidFill>
              </a:defRPr>
            </a:pPr>
            <a:r>
              <a:rPr sz="2550" b="1">
                <a:solidFill>
                  <a:srgbClr val="17201D"/>
                </a:solidFill>
              </a:rPr>
              <a:t>导盲路径算法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051CA2-3DF1-4992-A1D6-2FAFF534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66"/>
                </a:solidFill>
              </a:defRPr>
            </a:pPr>
            <a:r>
              <a:rPr sz="1275" b="0">
                <a:solidFill>
                  <a:srgbClr val="5E6A66"/>
                </a:solidFill>
              </a:rPr>
              <a:t>视觉 worker 将设备画面旋转校正后，提取盲道区域、计算偏移并叠加障碍物判断。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A4F52-86F1-4D36-BE38-C07E0628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4476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3211D"/>
          </a:solidFill>
          <a:ln xmlns:a="http://schemas.openxmlformats.org/drawingml/2006/main" w="0">
            <a:solidFill>
              <a:srgbClr val="10211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7C90FD-7164-49EE-BA21-77F6AF99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57500"/>
            <a:ext cx="2324100" cy="22669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3852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03105C-A062-4C13-8B39-3CE8B12C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28950"/>
            <a:ext cx="1790700" cy="19240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F2C9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16FE5F-D224-49AC-A71D-D4D70E01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05150"/>
            <a:ext cx="1143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F39584-98DE-4632-A284-8ECC4A73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24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B34ACC-01B5-4FD2-BA87-C6BA8968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B37E"/>
                </a:solidFill>
              </a:defRPr>
            </a:pPr>
            <a:r>
              <a:rPr sz="1125" b="1">
                <a:solidFill>
                  <a:srgbClr val="35B37E"/>
                </a:solidFill>
              </a:rPr>
              <a:t>视觉标注示意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DDCB61-23CB-44E4-B7C8-8F0D3054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偏移：右侧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障碍：前方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提示：向左调整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E7AC6A-2753-404C-8727-C50E5259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4953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6A6084-CEF5-40C6-BB6C-94FA98BF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46BED1-7B17-42F0-8162-B5F0BEBA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669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11430">
            <a:solidFill>
              <a:srgbClr val="0E8F6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9D0B85-6221-4D16-96E9-DA15DA83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717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8F6F"/>
                </a:solidFill>
              </a:defRPr>
            </a:pPr>
            <a:r>
              <a:rPr sz="900" b="1">
                <a:solidFill>
                  <a:srgbClr val="0E8F6F"/>
                </a:solidFill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244CF4-F22E-4ED9-8F0D-11C6458B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28875"/>
            <a:ext cx="396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方向校正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F0D54E-DBE7-4323-8959-23B6FECF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396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66"/>
                </a:solidFill>
              </a:defRPr>
            </a:pPr>
            <a:r>
              <a:rPr sz="900" b="0">
                <a:solidFill>
                  <a:srgbClr val="5E6A66"/>
                </a:solidFill>
              </a:rPr>
              <a:t>VISION_INPUT_ROTATION 将第一视角画面统一到模型输入方向。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C9E264-27EF-4541-AE55-C42CAA0F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86100"/>
            <a:ext cx="4953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1ABBDF-7603-4FB8-B8B5-1D399A5F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861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6B4EC5-7F53-42E6-AB29-0C4DBDC5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86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11430">
            <a:solidFill>
              <a:srgbClr val="D29A2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4C1F6D-BC14-42DB-8971-153767F4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9090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29A2E"/>
                </a:solidFill>
              </a:defRPr>
            </a:pPr>
            <a:r>
              <a:rPr sz="900" b="1">
                <a:solidFill>
                  <a:srgbClr val="D29A2E"/>
                </a:solidFill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C911D0-8E77-4D4C-8037-9887F454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48025"/>
            <a:ext cx="396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盲道分割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24C626-2993-49DC-A678-FD6CF4B5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43300"/>
            <a:ext cx="396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66"/>
                </a:solidFill>
              </a:defRPr>
            </a:pPr>
            <a:r>
              <a:rPr sz="900" b="0">
                <a:solidFill>
                  <a:srgbClr val="5E6A66"/>
                </a:solidFill>
              </a:rPr>
              <a:t>YOLO 分割模型输出盲道 mask，提取中心线与可通行区域。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BFF3DE-079C-46DD-87D8-78C78860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05250"/>
            <a:ext cx="4953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B21504-50B8-4EB3-B8F0-0C31965E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0525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933F64-BC58-4312-A5C8-FA3BDAE9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052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11430">
            <a:solidFill>
              <a:srgbClr val="2C8F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A2AD33-896E-4D33-96E8-DCD9B89E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100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C8FB8"/>
                </a:solidFill>
              </a:defRPr>
            </a:pPr>
            <a:r>
              <a:rPr sz="900" b="1">
                <a:solidFill>
                  <a:srgbClr val="2C8FB8"/>
                </a:solidFill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7DBC65-ED4A-4741-BB54-AEC0F212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67175"/>
            <a:ext cx="396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偏移估计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1EC72F-8E11-4379-BEBA-7B168416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62450"/>
            <a:ext cx="396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66"/>
                </a:solidFill>
              </a:defRPr>
            </a:pPr>
            <a:r>
              <a:rPr sz="900" b="0">
                <a:solidFill>
                  <a:srgbClr val="5E6A66"/>
                </a:solidFill>
              </a:rPr>
              <a:t>根据画面中心与盲道中心差值，生成左/右/直行提示。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DF94DE-B6F7-43A3-931A-468DD89C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24400"/>
            <a:ext cx="4953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B47DF8-DAC4-4528-8749-91A9AFBA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244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506C64-9AA8-468F-84C4-437A9E22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244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11430">
            <a:solidFill>
              <a:srgbClr val="D8624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6F1A24F-C60C-4B1F-89E9-9428DEFA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2920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8624B"/>
                </a:solidFill>
              </a:defRPr>
            </a:pPr>
            <a:r>
              <a:rPr sz="900" b="1">
                <a:solidFill>
                  <a:srgbClr val="D8624B"/>
                </a:solidFill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B45F5B-0AB8-4409-A7C2-10FFB933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86325"/>
            <a:ext cx="396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障碍融合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C98CB1-C5CC-43DC-AD1F-742E2BC5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81600"/>
            <a:ext cx="396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66"/>
                </a:solidFill>
              </a:defRPr>
            </a:pPr>
            <a:r>
              <a:rPr sz="900" b="0">
                <a:solidFill>
                  <a:srgbClr val="5E6A66"/>
                </a:solidFill>
              </a:rPr>
              <a:t>YOLOE 文本提示检测人、车、柱子等障碍物，提升安全提示。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cb83d2daa4a25"/>
          <a:stretch xmlns:a="http://schemas.openxmlformats.org/drawingml/2006/main"/>
        </p:blipFill>
        <p:spPr>
          <a:xfrm xmlns:a="http://schemas.openxmlformats.org/drawingml/2006/main">
            <a:off x="10765123" y="5857875"/>
            <a:ext cx="434403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645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A7821A-DA1F-4AB9-978C-E00C821457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62399-7518-485A-B3DA-7BF86BBE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CA795-EE75-4B9A-AC70-C47D6AAC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6523E-C2D1-40DC-BA96-ABD64546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76300" y="4914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27380-C941-4609-BAD9-EEF44D56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-114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2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DAD03-9363-45F5-8415-08FB93AC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DF54E-F402-4751-8A53-6A94910D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B66D5-B5CE-409F-A41F-76DEBA62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1BB53-371A-4E8B-9DCC-BFC8DC6C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04B26-0883-4A58-8EF5-DBA631B3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4DDD5-32EE-4863-B8BF-FEF0EF11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8E8CB-60A2-4EA4-BA29-C15D66D5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2C8BA-395D-43BE-8696-A0EFCF83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9CC58-A370-4CAE-BCD1-D757B6DF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F6F"/>
                </a:solidFill>
              </a:defRPr>
            </a:pPr>
            <a:r>
              <a:rPr sz="1050" b="1">
                <a:solidFill>
                  <a:srgbClr val="0E8F6F"/>
                </a:solidFill>
              </a:rPr>
              <a:t>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D5A0E-0A92-448C-B3FF-E71F7581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480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A66"/>
                </a:solidFill>
              </a:defRPr>
            </a:pPr>
            <a:r>
              <a:rPr sz="1050" b="1">
                <a:solidFill>
                  <a:srgbClr val="5E6A66"/>
                </a:solidFill>
              </a:rPr>
              <a:t>过街与红绿灯流程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5F245-2C36-409A-B26C-E3C578FD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048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08 / 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F34C0-57ED-440D-8B7A-4548F583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B0E21D-925E-46D2-8E07-0673830E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95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D"/>
                </a:solidFill>
              </a:defRPr>
            </a:pPr>
            <a:r>
              <a:rPr sz="2550" b="1">
                <a:solidFill>
                  <a:srgbClr val="17201D"/>
                </a:solidFill>
              </a:rPr>
              <a:t>过街与红绿灯流程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1E046-938C-4170-B26E-033C7548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66"/>
                </a:solidFill>
              </a:defRPr>
            </a:pPr>
            <a:r>
              <a:rPr sz="1275" b="0">
                <a:solidFill>
                  <a:srgbClr val="5E6A66"/>
                </a:solidFill>
              </a:rPr>
              <a:t>过街模式不是单帧识别，而是围绕斑马线位置、角度、红绿灯和结束条件的状态流程。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727B3E-FC6B-48DA-A35A-86E70A02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098396-93AC-4DF2-854E-7332C982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C178DB-B647-496D-BDA4-7DEDAFF2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575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FCAF2F-5CD6-41F1-9015-D2030C31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C9B74F-2AC9-4E72-A021-F5FA9E5D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EF3B62-6899-4773-AD0B-F82F2129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D"/>
                </a:solidFill>
              </a:defRPr>
            </a:pPr>
            <a:r>
              <a:rPr sz="1200" b="1">
                <a:solidFill>
                  <a:srgbClr val="17201D"/>
                </a:solidFill>
              </a:rPr>
              <a:t>导盲巡航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399FFB-CF69-4515-BD12-F3C3475A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盲道跟随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D7EA7F-9B10-4510-9C6B-4B4E44DE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289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D"/>
                </a:solidFill>
              </a:defRPr>
            </a:pPr>
            <a:r>
              <a:rPr sz="1200" b="1">
                <a:solidFill>
                  <a:srgbClr val="17201D"/>
                </a:solidFill>
              </a:rPr>
              <a:t>进入过街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8111EF-EEDA-4EF3-87DD-38716460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528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语音/前端命令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D4DB25-F0D1-4380-8413-F66539FA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289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D"/>
                </a:solidFill>
              </a:defRPr>
            </a:pPr>
            <a:r>
              <a:rPr sz="1200" b="1">
                <a:solidFill>
                  <a:srgbClr val="17201D"/>
                </a:solidFill>
              </a:rPr>
              <a:t>斑马线对齐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34C037-73B3-454F-88B5-949C9639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528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角度与偏移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006AC7-87F1-4F09-B069-0EDC6527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289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D"/>
                </a:solidFill>
              </a:defRPr>
            </a:pPr>
            <a:r>
              <a:rPr sz="1200" b="1">
                <a:solidFill>
                  <a:srgbClr val="17201D"/>
                </a:solidFill>
              </a:rPr>
              <a:t>红绿灯判断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314B14-21C2-49BF-8AA4-31A44756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528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绿灯/倒计时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9C3D0B-B8B9-4D11-8777-F242A590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289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D"/>
                </a:solidFill>
              </a:defRPr>
            </a:pPr>
            <a:r>
              <a:rPr sz="1200" b="1">
                <a:solidFill>
                  <a:srgbClr val="17201D"/>
                </a:solidFill>
              </a:rPr>
              <a:t>完成返回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C53889-AA46-40A2-8E57-21355C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528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继续导盲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8D5609-4867-4F4E-A8A7-4AA1978E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09925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3710F6-6BE9-4B0B-B63F-3D1B2D54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9E7D2D-FE1B-4013-AA06-9DD8D588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9925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2DF1B4-3890-4962-9B64-EF73AF1D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09925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26E943-CB59-4011-BAFB-3E198102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29150"/>
            <a:ext cx="4095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562EB5-2ED4-4703-B418-182DE935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323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C1812F-DD56-4072-BB7D-3B1E82CE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33950"/>
            <a:ext cx="323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DAED4E-B20D-4623-B00A-B7485F74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933950"/>
            <a:ext cx="323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257F8D-544D-4D03-8539-CC32ADDC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33950"/>
            <a:ext cx="323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723907-BF9C-458E-AA42-90FC1E53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933950"/>
            <a:ext cx="323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43BBD9-AEC1-47CB-9F5F-BF043AA6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33950"/>
            <a:ext cx="323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4536F4-854C-4707-A772-59D69EC4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4830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斑马线：检测 mask 面积、方向角、画面中心偏移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9130E13-052F-4C2B-ADC8-4634E786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29150"/>
            <a:ext cx="2857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7201D"/>
          </a:solidFill>
          <a:ln xmlns:a="http://schemas.openxmlformats.org/drawingml/2006/main" w="0">
            <a:solidFill>
              <a:srgbClr val="10211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D83854-C0B6-4F7E-B072-9F182545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76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07BF10-94AA-4418-80C7-DA3ACD64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76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2C9C37-868C-4841-BE6F-6107EA95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76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B3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A0CA79-80DD-45A7-BC84-0D147437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448300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红绿灯：检测状态并给出安全提示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c9e95f7654600"/>
          <a:stretch xmlns:a="http://schemas.openxmlformats.org/drawingml/2006/main"/>
        </p:blipFill>
        <p:spPr>
          <a:xfrm xmlns:a="http://schemas.openxmlformats.org/drawingml/2006/main">
            <a:off x="10765123" y="5857875"/>
            <a:ext cx="434403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111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A7821A-DA1F-4AB9-978C-E00C821457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2CF18-2F0F-40D0-A0B6-F4DCCE27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1CB37-919B-43EF-9CCD-9DFB2570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70028-36A4-4468-BE52-79530BEA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76300" y="4914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114C5-33FE-4C32-B96F-8F58E066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-114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2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DBB98-9D5F-454B-839C-873B656A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63824-5A29-4D12-92C9-11B29F89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3F784-A40A-4A46-8E5C-6253BB9E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7E9F2-A5EB-4407-8687-36ECCEA9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BD3DF-0EB0-4335-B75B-2A098139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80058-2FC3-4A3A-B27F-326299A0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A6E79-702E-4889-A05E-A5422675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D1FA0-8EB9-4441-AB78-CF7DC6D4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18EB9-FE63-46CB-AB63-0EA5BCA3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F6F"/>
                </a:solidFill>
              </a:defRPr>
            </a:pPr>
            <a:r>
              <a:rPr sz="1050" b="1">
                <a:solidFill>
                  <a:srgbClr val="0E8F6F"/>
                </a:solidFill>
              </a:rPr>
              <a:t>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28AD0-034F-41CC-9F37-EF18CEB9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480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A66"/>
                </a:solidFill>
              </a:defRPr>
            </a:pPr>
            <a:r>
              <a:rPr sz="1050" b="1">
                <a:solidFill>
                  <a:srgbClr val="5E6A66"/>
                </a:solidFill>
              </a:rPr>
              <a:t>语音交互与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5A470-6AEC-41E5-A220-774B6E05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048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09 / 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646D6C-30B5-431A-9D02-BC808A44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CDFCBD-CBF8-40BA-A151-B2EF77E8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95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D"/>
                </a:solidFill>
              </a:defRPr>
            </a:pPr>
            <a:r>
              <a:rPr sz="2550" b="1">
                <a:solidFill>
                  <a:srgbClr val="17201D"/>
                </a:solidFill>
              </a:rPr>
              <a:t>语音交互与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1B4082-F2A6-4F50-8DDC-7302C35C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66"/>
                </a:solidFill>
              </a:defRPr>
            </a:pPr>
            <a:r>
              <a:rPr sz="1275" b="0">
                <a:solidFill>
                  <a:srgbClr val="5E6A66"/>
                </a:solidFill>
              </a:rPr>
              <a:t>语音链路同时服务“导航命令”和“普通问答”，后端根据模式决定是否暂停 AI 输入。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0926DA-EBB7-4D31-BB74-0315CEA5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8F6F"/>
                </a:solidFill>
              </a:defRPr>
            </a:pPr>
            <a:r>
              <a:rPr sz="1350" b="1">
                <a:solidFill>
                  <a:srgbClr val="0E8F6F"/>
                </a:solidFill>
              </a:rPr>
              <a:t>导航指令通道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8F10E6-D72A-4DEA-950C-6C3C6552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8FB8"/>
                </a:solidFill>
              </a:defRPr>
            </a:pPr>
            <a:r>
              <a:rPr sz="1350" b="1">
                <a:solidFill>
                  <a:srgbClr val="2C8FB8"/>
                </a:solidFill>
              </a:rPr>
              <a:t>普通问答通道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4E5725-B53D-4223-B6C9-B083C061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FCA4DE-BE9A-4B4E-AE2A-D13CA5BC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D"/>
                </a:solidFill>
              </a:defRPr>
            </a:pPr>
            <a:r>
              <a:rPr sz="1200" b="1">
                <a:solidFill>
                  <a:srgbClr val="17201D"/>
                </a:solidFill>
              </a:rPr>
              <a:t>麦克风音频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ED9C19-DF6E-43E1-BEED-C35F6D15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PCM16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518597-F1B9-4A25-844A-B50E1E1D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5745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8020BE-0151-4FF2-ABDC-6AE1DB36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098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D"/>
                </a:solidFill>
              </a:defRPr>
            </a:pPr>
            <a:r>
              <a:rPr sz="1200" b="1">
                <a:solidFill>
                  <a:srgbClr val="17201D"/>
                </a:solidFill>
              </a:rPr>
              <a:t>ASR 转写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46500B-A043-4468-8C20-0EA7B3AD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14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识别中文命令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446783-F985-48A3-B920-ED3553FD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71775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034D3C-4719-4CFD-9B7E-40EECF7E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5745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5AEA39-C30E-49F1-A85C-74EB8D18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98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D"/>
                </a:solidFill>
              </a:defRPr>
            </a:pPr>
            <a:r>
              <a:rPr sz="1200" b="1">
                <a:solidFill>
                  <a:srgbClr val="17201D"/>
                </a:solidFill>
              </a:rPr>
              <a:t>命令分流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8FE167-9B28-4E30-861F-4207888E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14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导盲/过街/寻物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04A307-BA2E-48AA-B07F-2034AEC8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71775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323CEF-589C-4976-AB0F-3AB5B617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5745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6D4451-5580-47DC-9D89-CEC5F771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098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D"/>
                </a:solidFill>
              </a:defRPr>
            </a:pPr>
            <a:r>
              <a:rPr sz="1200" b="1">
                <a:solidFill>
                  <a:srgbClr val="17201D"/>
                </a:solidFill>
              </a:rPr>
              <a:t>设备播报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A1CCBE-16B1-4C1F-A351-3A7F4C8B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14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预生成 wav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1F905B-E125-41DC-B788-4C771F9B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71775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7CB0A6-4952-475A-9B98-72385CBB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2D42D9-DF08-4FB1-BE00-76671545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D"/>
                </a:solidFill>
              </a:defRPr>
            </a:pPr>
            <a:r>
              <a:rPr sz="1200" b="1">
                <a:solidFill>
                  <a:srgbClr val="17201D"/>
                </a:solidFill>
              </a:rPr>
              <a:t>麦克风音频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A61F93-15A4-4588-ABEC-3FA94BA7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PCM16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F7B175-ED3C-44DC-BF3D-7FFFEB43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3860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0E2BF0-89FF-446F-ADED-AA340CF4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91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D"/>
                </a:solidFill>
              </a:defRPr>
            </a:pPr>
            <a:r>
              <a:rPr sz="1200" b="1">
                <a:solidFill>
                  <a:srgbClr val="17201D"/>
                </a:solidFill>
              </a:rPr>
              <a:t>Qwen Omni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B2F7F1-2300-4210-80C0-5FD5C924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958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图像+文本问答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9F4726-7B55-4074-9DE6-CE9C5708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52925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8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95F08D-D6C1-4CE7-96AB-957AB8B4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3860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A3B31B-FDC7-48C4-98C2-602C3190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91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D"/>
                </a:solidFill>
              </a:defRPr>
            </a:pPr>
            <a:r>
              <a:rPr sz="1200" b="1">
                <a:solidFill>
                  <a:srgbClr val="17201D"/>
                </a:solidFill>
              </a:rPr>
              <a:t>音频下行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42C2F1-F601-4CF9-BFAB-003CBF68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958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24k→8k PCM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05049E-E702-45EB-A1B1-3E2391C3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52925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8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4AE70A-2F9A-42DE-BF4F-120D8315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3860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34D73B-3F0A-445B-9CDD-272C6E4B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91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1D"/>
                </a:solidFill>
              </a:defRPr>
            </a:pPr>
            <a:r>
              <a:rPr sz="1200" b="1">
                <a:solidFill>
                  <a:srgbClr val="17201D"/>
                </a:solidFill>
              </a:rPr>
              <a:t>浏览器/设备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B432E2-3487-45EC-B238-E7FAFDB9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958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播放回复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836901-B01F-4359-8099-74498DA5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52925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8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6005A0F-BF78-4E93-88AA-0FFCDBA2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05450"/>
            <a:ext cx="8362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231E"/>
          </a:solidFill>
          <a:ln xmlns:a="http://schemas.openxmlformats.org/drawingml/2006/main" w="0">
            <a:solidFill>
              <a:srgbClr val="10211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EE58E62-4CDA-49D8-AB50-C927EE7A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67375"/>
            <a:ext cx="767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关键策略：导航模式下优先保障安全提示，普通 AI 回复可暂停；问答模式下再恢复实时语音交互。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3f66e829e41f7"/>
          <a:stretch xmlns:a="http://schemas.openxmlformats.org/drawingml/2006/main"/>
        </p:blipFill>
        <p:spPr>
          <a:xfrm xmlns:a="http://schemas.openxmlformats.org/drawingml/2006/main">
            <a:off x="10765123" y="5857875"/>
            <a:ext cx="434403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205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A7821A-DA1F-4AB9-978C-E00C821457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5350F-15FD-4566-A043-52CA29AB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67928-1205-4947-97BC-6CF68B50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D104D-58F3-41DC-A4D8-5915004B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76300" y="4914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F398D-F908-458E-A221-AF8C2D56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-114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2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2D326-35BF-48C3-ABE3-EBD93777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C3C2F-F0E4-4E72-9012-6C63D286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A9794-AB14-4DE1-B4C7-5762C0B4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00381-AAFB-408E-88E3-7E51355A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C655D-2E36-417E-9767-4EE07841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A90DD-044F-4CCC-96E4-4687EB78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25E9E-E2F7-411E-BDA8-079D988D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C218F-FC19-4218-8A91-0493ECF8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58F47-7484-422A-B83E-E2454999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F6F"/>
                </a:solidFill>
              </a:defRPr>
            </a:pPr>
            <a:r>
              <a:rPr sz="1050" b="1">
                <a:solidFill>
                  <a:srgbClr val="0E8F6F"/>
                </a:solidFill>
              </a:rPr>
              <a:t>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B38662-AD85-44FF-B325-A8CD1FA8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480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A66"/>
                </a:solidFill>
              </a:defRPr>
            </a:pPr>
            <a:r>
              <a:rPr sz="1050" b="1">
                <a:solidFill>
                  <a:srgbClr val="5E6A66"/>
                </a:solidFill>
              </a:rPr>
              <a:t>前端控制台与调试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4D4BF-2E6A-443D-B3C2-99DFE6A3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048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10 / 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E72615-3E3B-476D-B2B3-B977C69B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F9600-421C-40F3-B768-EF2BF543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95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D"/>
                </a:solidFill>
              </a:defRPr>
            </a:pPr>
            <a:r>
              <a:rPr sz="2550" b="1">
                <a:solidFill>
                  <a:srgbClr val="17201D"/>
                </a:solidFill>
              </a:rPr>
              <a:t>前端控制台与调试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D59A5-9120-43CB-BAF0-A2B9E913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66"/>
                </a:solidFill>
              </a:defRPr>
            </a:pPr>
            <a:r>
              <a:rPr sz="1275" b="0">
                <a:solidFill>
                  <a:srgbClr val="5E6A66"/>
                </a:solidFill>
              </a:rPr>
              <a:t>Vue 控制台用于演示、调参和排障，能看到原始流、标注流、模式状态和音频事件。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A0B831-B2D5-44E6-8198-55DB9976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68580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6231F"/>
          </a:solidFill>
          <a:ln xmlns:a="http://schemas.openxmlformats.org/drawingml/2006/main" w="0">
            <a:solidFill>
              <a:srgbClr val="10211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65A719-8020-4307-80CD-3DB8635E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095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42F"/>
          </a:solidFill>
          <a:ln xmlns:a="http://schemas.openxmlformats.org/drawingml/2006/main" w="9525">
            <a:solidFill>
              <a:srgbClr val="4D5F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8704F4-B8CB-466B-87CA-BA0BA44E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43250"/>
            <a:ext cx="1790700" cy="14668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586F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B1AC9F-B658-402F-A485-0E71DE94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14700"/>
            <a:ext cx="1257300" cy="11811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EBC9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78EE36-50CC-47F5-82A3-4839F7E3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81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5A103A-DCC1-4E0C-92C9-6C2BCEA8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5B37E"/>
                </a:solidFill>
              </a:defRPr>
            </a:pPr>
            <a:r>
              <a:rPr sz="975" b="0">
                <a:solidFill>
                  <a:srgbClr val="35B37E"/>
                </a:solidFill>
              </a:rPr>
              <a:t>Live / Vision Preview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F956D3-E3CA-4526-A359-15B2D73F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71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931E51-8FCD-495E-ACB6-C488F914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8F6F"/>
                </a:solidFill>
              </a:defRPr>
            </a:pPr>
            <a:r>
              <a:rPr sz="1125" b="1">
                <a:solidFill>
                  <a:srgbClr val="0E8F6F"/>
                </a:solidFill>
              </a:rPr>
              <a:t>设备在线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5B5890-7CAF-4809-96A4-5CB27349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33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B650DF-5771-4878-BB34-2F62D143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8615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8FB8"/>
                </a:solidFill>
              </a:defRPr>
            </a:pPr>
            <a:r>
              <a:rPr sz="1125" b="1">
                <a:solidFill>
                  <a:srgbClr val="2C8FB8"/>
                </a:solidFill>
              </a:rPr>
              <a:t>导盲模式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B7DD06-ED4C-4B49-AA3D-69FDECC5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CA6527-73EA-492D-AACA-22FBEFF1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24815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29A2E"/>
                </a:solidFill>
              </a:defRPr>
            </a:pPr>
            <a:r>
              <a:rPr sz="1125" b="1">
                <a:solidFill>
                  <a:srgbClr val="D29A2E"/>
                </a:solidFill>
              </a:rPr>
              <a:t>音频分片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1EF9B8-7FBE-4F44-B896-89F615BD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9590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AFC6EE-C364-4C7B-A6BA-B1B42561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864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FD0C8"/>
                </a:solidFill>
              </a:defRPr>
            </a:pPr>
            <a:r>
              <a:rPr sz="975" b="0">
                <a:solidFill>
                  <a:srgbClr val="BFD0C8"/>
                </a:solidFill>
              </a:rPr>
              <a:t>ws://...  videoSeqGaps / audioSeqGaps / navigationEvents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0323E7-F21F-4B71-85C7-ED694007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D352B6-343C-41CC-A956-D8AE6D29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B3D927-66A5-4CB6-BDEC-5E17F976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0325"/>
            <a:ext cx="2362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演示价值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19283B-514C-4F24-B34C-67084018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28950"/>
            <a:ext cx="2362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答辩时可以直接展示设备画面、AI 音频和导航事件，降低口述成本。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A8FEEB-1BF2-4D75-985E-56154721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62350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094352-3D06-42C4-8E95-4D560E9B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623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435506-4BEF-40BF-AD63-BD5105BA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81425"/>
            <a:ext cx="2362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调试价值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8C762E-DE27-452D-875D-3D53F7E9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10050"/>
            <a:ext cx="2362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定位 UDP 丢包、worker 状态、模式切换失败和浏览器音频解锁问题。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63F96F-13B0-4FFF-B5E7-98149BFA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43450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79CF48-B8B1-4C65-8622-2BA07E5F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434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2B125C-82D0-4E12-8464-C6971EEE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62525"/>
            <a:ext cx="2362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部署价值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EA27FF-6292-44D0-B187-8EC9A82D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91150"/>
            <a:ext cx="2362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前端可独立构建为静态页面，并通过 Nginx 反向代理后端接口。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796fd5ea64651"/>
          <a:stretch xmlns:a="http://schemas.openxmlformats.org/drawingml/2006/main"/>
        </p:blipFill>
        <p:spPr>
          <a:xfrm xmlns:a="http://schemas.openxmlformats.org/drawingml/2006/main">
            <a:off x="10765123" y="5857875"/>
            <a:ext cx="434403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3202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A7821A-DA1F-4AB9-978C-E00C821457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44C15-1A99-4A08-A98E-4F17B751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C8E00-438E-4629-A83C-51702572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04FA7-2B21-4319-AA78-E2081724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76300" y="4914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CC738-2EF8-45CB-8616-AD6858AE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-114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2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1CF16-5A91-4B5B-BE4D-67B1686A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6458D-F194-440D-8539-5F39F9B1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6D7EB-7302-4607-8ACE-CB832A22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874B6-4B56-48C1-B36A-0F7A858D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3779C-C80F-476C-8220-ECBB6B35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81D74-D068-428A-930F-EB663A8D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5B599-8384-4F7A-B698-C70844D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E55572-B037-41A2-9F0C-932CAEB2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950537-7A06-47AD-961E-EC0DCF8D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F6F"/>
                </a:solidFill>
              </a:defRPr>
            </a:pPr>
            <a:r>
              <a:rPr sz="1050" b="1">
                <a:solidFill>
                  <a:srgbClr val="0E8F6F"/>
                </a:solidFill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18A27-7CE9-4437-B744-147412D5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480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A66"/>
                </a:solidFill>
              </a:defRPr>
            </a:pPr>
            <a:r>
              <a:rPr sz="1050" b="1">
                <a:solidFill>
                  <a:srgbClr val="5E6A66"/>
                </a:solidFill>
              </a:rPr>
              <a:t>测试与验证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BD8957-0F72-42EA-B834-CD1E476A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048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11 / 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34F46-1B81-424A-9D5D-6622792B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60C31-A4E6-4172-AB8A-B14A670A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95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D"/>
                </a:solidFill>
              </a:defRPr>
            </a:pPr>
            <a:r>
              <a:rPr sz="2550" b="1">
                <a:solidFill>
                  <a:srgbClr val="17201D"/>
                </a:solidFill>
              </a:rPr>
              <a:t>测试与验证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028E7D-21FB-4558-BFB5-282D4913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66"/>
                </a:solidFill>
              </a:defRPr>
            </a:pPr>
            <a:r>
              <a:rPr sz="1275" b="0">
                <a:solidFill>
                  <a:srgbClr val="5E6A66"/>
                </a:solidFill>
              </a:rPr>
              <a:t>当前代码已完成基础工程验证，覆盖 Python worker、Go 后端和 Vue 前端构建链路。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0266A5-1351-42F1-A582-F535D1AF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143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78DC79-4E28-4F30-AB11-9CBF103C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02ADFD-0606-401B-8A0C-9DB9DC13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1D"/>
                </a:solidFill>
              </a:defRPr>
            </a:pPr>
            <a:r>
              <a:rPr sz="2250" b="1">
                <a:solidFill>
                  <a:srgbClr val="17201D"/>
                </a:solidFill>
              </a:rPr>
              <a:t>通过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CB836E-AEC2-4B91-88B1-360038DB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76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66"/>
                </a:solidFill>
              </a:defRPr>
            </a:pPr>
            <a:r>
              <a:rPr sz="1125" b="0">
                <a:solidFill>
                  <a:srgbClr val="5E6A66"/>
                </a:solidFill>
              </a:rPr>
              <a:t>Python 语法编译</a:t>
            </a:r>
          </a:p>
          <a:p xmlns:a="http://schemas.openxmlformats.org/drawingml/2006/main">
            <a:pPr algn="l">
              <a:defRPr sz="1125" b="0">
                <a:solidFill>
                  <a:srgbClr val="5E6A66"/>
                </a:solidFill>
              </a:defRPr>
            </a:pPr>
            <a:r>
              <a:rPr sz="1125" b="0">
                <a:solidFill>
                  <a:srgbClr val="5E6A66"/>
                </a:solidFill>
              </a:rPr>
              <a:t>python -m py_compile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12E299-3DE9-49E5-ADE8-20A7077F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62200"/>
            <a:ext cx="3143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DEAB10-B981-4C81-8486-443A2830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622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0E6F68-EFEB-4084-9501-F810EE39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9080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1D"/>
                </a:solidFill>
              </a:defRPr>
            </a:pPr>
            <a:r>
              <a:rPr sz="2250" b="1">
                <a:solidFill>
                  <a:srgbClr val="17201D"/>
                </a:solidFill>
              </a:rPr>
              <a:t>通过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467D24-C0D1-47BD-B640-85E491A2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05150"/>
            <a:ext cx="276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66"/>
                </a:solidFill>
              </a:defRPr>
            </a:pPr>
            <a:r>
              <a:rPr sz="1125" b="0">
                <a:solidFill>
                  <a:srgbClr val="5E6A66"/>
                </a:solidFill>
              </a:rPr>
              <a:t>Go 后端测试</a:t>
            </a:r>
          </a:p>
          <a:p xmlns:a="http://schemas.openxmlformats.org/drawingml/2006/main">
            <a:pPr algn="l">
              <a:defRPr sz="1125" b="0">
                <a:solidFill>
                  <a:srgbClr val="5E6A66"/>
                </a:solidFill>
              </a:defRPr>
            </a:pPr>
            <a:r>
              <a:rPr sz="1125" b="0">
                <a:solidFill>
                  <a:srgbClr val="5E6A66"/>
                </a:solidFill>
              </a:rPr>
              <a:t>go test ./...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539A04-6BB8-4E65-A3E4-65AE439A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3143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A1C8BD-3599-4BB1-AE74-4FF0C670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F086ED-75E0-4EEB-9E9F-40515179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9080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1D"/>
                </a:solidFill>
              </a:defRPr>
            </a:pPr>
            <a:r>
              <a:rPr sz="2250" b="1">
                <a:solidFill>
                  <a:srgbClr val="17201D"/>
                </a:solidFill>
              </a:rPr>
              <a:t>通过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DB8977-A366-424C-9109-9C5E7EAF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05150"/>
            <a:ext cx="276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66"/>
                </a:solidFill>
              </a:defRPr>
            </a:pPr>
            <a:r>
              <a:rPr sz="1125" b="0">
                <a:solidFill>
                  <a:srgbClr val="5E6A66"/>
                </a:solidFill>
              </a:rPr>
              <a:t>前端生产构建</a:t>
            </a:r>
          </a:p>
          <a:p xmlns:a="http://schemas.openxmlformats.org/drawingml/2006/main">
            <a:pPr algn="l">
              <a:defRPr sz="1125" b="0">
                <a:solidFill>
                  <a:srgbClr val="5E6A66"/>
                </a:solidFill>
              </a:defRPr>
            </a:pPr>
            <a:r>
              <a:rPr sz="1125" b="0">
                <a:solidFill>
                  <a:srgbClr val="5E6A66"/>
                </a:solidFill>
              </a:rPr>
              <a:t>npm run build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ED662A-E0EF-432C-8595-9C766D3A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67250"/>
            <a:ext cx="9677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231E"/>
          </a:solidFill>
          <a:ln xmlns:a="http://schemas.openxmlformats.org/drawingml/2006/main" w="0">
            <a:solidFill>
              <a:srgbClr val="10211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A5401E-B1F4-41AB-9D00-B2C37806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577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B37E"/>
                </a:solidFill>
              </a:defRPr>
            </a:pPr>
            <a:r>
              <a:rPr sz="1275" b="1">
                <a:solidFill>
                  <a:srgbClr val="35B37E"/>
                </a:solidFill>
              </a:rPr>
              <a:t>联调验收路径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94063A-6194-4A2E-8B31-C4699501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577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worker /api/vision/status  →  Go /healthz 与 /api/status  →  浏览器 #live  →  设备 UDP 8888 上线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4D85D2-8EF6-4E92-9376-3E524921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197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8D1"/>
                </a:solidFill>
              </a:defRPr>
            </a:pPr>
            <a:r>
              <a:rPr sz="975" b="0">
                <a:solidFill>
                  <a:srgbClr val="C9D8D1"/>
                </a:solidFill>
              </a:rPr>
              <a:t>说明：答辩现场如需演示，可优先展示前端实时页、模式切换和导航事件，模型推理速度取决于服务器算力。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7c39ba3b246f9"/>
          <a:stretch xmlns:a="http://schemas.openxmlformats.org/drawingml/2006/main"/>
        </p:blipFill>
        <p:spPr>
          <a:xfrm xmlns:a="http://schemas.openxmlformats.org/drawingml/2006/main">
            <a:off x="10765123" y="5857875"/>
            <a:ext cx="434403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4263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A7821A-DA1F-4AB9-978C-E00C821457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352B0-EFD1-4BC9-A823-EBC2A67F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97CE3-1586-424F-81CD-76ABC662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9B84F-B195-4A13-99E1-E45F6F55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76300" y="4914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4EF03-DD12-4402-B126-23D88173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-114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2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C5F5C-EDF6-48A2-9315-463AD7DE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4435E-A38E-41EC-B0D3-62A15361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6B61E-67E1-4CB7-AFE6-973949EF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751BE-A404-4978-95A5-1359B3F6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1DAF3-49AB-4DC1-A9DB-1B95FC43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2790E-F8DD-4C70-AAFE-0A4C4B5F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F8A91-DE01-40CA-B8C3-0450E21A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CEE54-11BE-4E96-A7FB-C7DC37BB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B885D-1A90-461B-9076-64480162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F6F"/>
                </a:solidFill>
              </a:defRPr>
            </a:pPr>
            <a:r>
              <a:rPr sz="1050" b="1">
                <a:solidFill>
                  <a:srgbClr val="0E8F6F"/>
                </a:solidFill>
              </a:rPr>
              <a:t>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1B11C-3763-4879-BA5F-737CC602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480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A66"/>
                </a:solidFill>
              </a:defRPr>
            </a:pPr>
            <a:r>
              <a:rPr sz="1050" b="1">
                <a:solidFill>
                  <a:srgbClr val="5E6A66"/>
                </a:solidFill>
              </a:rPr>
              <a:t>难点与创新点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E6615A-E904-4948-B1D6-D544356E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048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12 / 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C11FFA-F7D2-48C5-B17E-D50717CD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38D037-F1EA-4D0E-B4DD-61096064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95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D"/>
                </a:solidFill>
              </a:defRPr>
            </a:pPr>
            <a:r>
              <a:rPr sz="2550" b="1">
                <a:solidFill>
                  <a:srgbClr val="17201D"/>
                </a:solidFill>
              </a:rPr>
              <a:t>难点与创新点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8D251C-E5D8-45E4-9309-8FDF55C7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66"/>
                </a:solidFill>
              </a:defRPr>
            </a:pPr>
            <a:r>
              <a:rPr sz="1275" b="0">
                <a:solidFill>
                  <a:srgbClr val="5E6A66"/>
                </a:solidFill>
              </a:rPr>
              <a:t>本项目的价值主要体现在多模块协同和端云结合，而不是单一模型调用。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7D1454-8A16-454C-9B8F-1B91830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5339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175641-BC4F-4413-A02E-482FD3D9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57C7B9-1DF4-4F44-874D-18285916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33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3EB"/>
          </a:solidFill>
          <a:ln xmlns:a="http://schemas.openxmlformats.org/drawingml/2006/main" w="11430">
            <a:solidFill>
              <a:srgbClr val="0E8F6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612FD8-E122-4B54-BC66-B3DDA089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03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8F6F"/>
                </a:solidFill>
              </a:defRPr>
            </a:pPr>
            <a:r>
              <a:rPr sz="975" b="1">
                <a:solidFill>
                  <a:srgbClr val="0E8F6F"/>
                </a:solidFill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3EBDA0-423B-4734-BB03-90E9F1D0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43175"/>
            <a:ext cx="3600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低延迟流媒体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A0972E-D292-47FD-BFDC-39A66346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4038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66"/>
                </a:solidFill>
              </a:defRPr>
            </a:pPr>
            <a:r>
              <a:rPr sz="1050" b="0">
                <a:solidFill>
                  <a:srgbClr val="5E6A66"/>
                </a:solidFill>
              </a:rPr>
              <a:t>自定义 UDP 包处理视频分片、音频序列和设备端播放回包，适合连续音视频流。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2DA74A-AFFC-412E-B08C-B9348F5B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45339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A6CC23-9711-4CCA-9EFF-AB3362D1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4BD2DD-2AE9-46B0-8993-545770E4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33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3EB"/>
          </a:solidFill>
          <a:ln xmlns:a="http://schemas.openxmlformats.org/drawingml/2006/main" w="11430">
            <a:solidFill>
              <a:srgbClr val="2C8F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CCF002-8B49-4F70-9BBC-2DEEE4ED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03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C8FB8"/>
                </a:solidFill>
              </a:defRPr>
            </a:pPr>
            <a:r>
              <a:rPr sz="975" b="1">
                <a:solidFill>
                  <a:srgbClr val="2C8FB8"/>
                </a:solidFill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8084AB-0CAF-4B5A-BE40-47B4C8F4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43175"/>
            <a:ext cx="3600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跨语言协同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959866-3884-4796-B310-49AAD5A5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52750"/>
            <a:ext cx="4038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66"/>
                </a:solidFill>
              </a:defRPr>
            </a:pPr>
            <a:r>
              <a:rPr sz="1050" b="0">
                <a:solidFill>
                  <a:srgbClr val="5E6A66"/>
                </a:solidFill>
              </a:rPr>
              <a:t>Go 负责连接和并发，Python 负责视觉模型，Vue 负责实时观察，职责边界清晰。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D76E81-3DCB-416D-837A-32BF61A9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45339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F9E116-D83E-45E9-B667-5A56A2F0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AF59B0-60C8-4F30-99F7-7AFC1661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29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3EB"/>
          </a:solidFill>
          <a:ln xmlns:a="http://schemas.openxmlformats.org/drawingml/2006/main" w="11430">
            <a:solidFill>
              <a:srgbClr val="D29A2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266DFB-89A0-43CE-B0B6-B08D99A6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9577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29A2E"/>
                </a:solidFill>
              </a:defRPr>
            </a:pPr>
            <a:r>
              <a:rPr sz="975" b="1">
                <a:solidFill>
                  <a:srgbClr val="D29A2E"/>
                </a:solidFill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BE4F85-776C-427F-8B75-DEC54243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38625"/>
            <a:ext cx="3600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导航状态机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B37D6A-A5B7-4816-94FC-D1E7C34D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4038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66"/>
                </a:solidFill>
              </a:defRPr>
            </a:pPr>
            <a:r>
              <a:rPr sz="1050" b="0">
                <a:solidFill>
                  <a:srgbClr val="5E6A66"/>
                </a:solidFill>
              </a:rPr>
              <a:t>导盲、过街、红绿灯和问答模式互斥/切换，避免语音提示互相干扰。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D55C1C-830B-4CB3-9902-8EE57D3D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00500"/>
            <a:ext cx="45339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6ABB56-F07F-4F89-BEBF-E82D9CA5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005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1021FC-E40C-4D40-B7A5-71140E55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29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3EB"/>
          </a:solidFill>
          <a:ln xmlns:a="http://schemas.openxmlformats.org/drawingml/2006/main" w="11430">
            <a:solidFill>
              <a:srgbClr val="D8624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C63E35-D92C-4645-A4EB-CD4BFA67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9577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8624B"/>
                </a:solidFill>
              </a:defRPr>
            </a:pPr>
            <a:r>
              <a:rPr sz="975" b="1">
                <a:solidFill>
                  <a:srgbClr val="D8624B"/>
                </a:solidFill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45859B-80FE-43B9-B84C-0FAF23DF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38625"/>
            <a:ext cx="3600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多模型融合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7B977C-125A-4E30-A00E-48CCCF5A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48200"/>
            <a:ext cx="4038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66"/>
                </a:solidFill>
              </a:defRPr>
            </a:pPr>
            <a:r>
              <a:rPr sz="1050" b="0">
                <a:solidFill>
                  <a:srgbClr val="5E6A66"/>
                </a:solidFill>
              </a:rPr>
              <a:t>盲道分割、YOLOE 障碍物、红绿灯检测和 Qwen Omni 共同服务出行辅助。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B6DD9F-AD86-4AF5-82F5-3CF487C9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638800"/>
            <a:ext cx="4800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3F3EB"/>
          </a:solidFill>
          <a:ln xmlns:a="http://schemas.openxmlformats.org/drawingml/2006/main" w="9525">
            <a:solidFill>
              <a:srgbClr val="0E8F6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1DF5A6-9292-4BE5-BD06-DD610C7A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753100"/>
            <a:ext cx="421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8F6F"/>
                </a:solidFill>
              </a:defRPr>
            </a:pPr>
            <a:r>
              <a:rPr sz="1050" b="1">
                <a:solidFill>
                  <a:srgbClr val="0E8F6F"/>
                </a:solidFill>
              </a:rPr>
              <a:t>工程创新点：把“看、听、说、决策、调试”整合进一个可运行原型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f8559fb9a47a5"/>
          <a:stretch xmlns:a="http://schemas.openxmlformats.org/drawingml/2006/main"/>
        </p:blipFill>
        <p:spPr>
          <a:xfrm xmlns:a="http://schemas.openxmlformats.org/drawingml/2006/main">
            <a:off x="10765123" y="5857875"/>
            <a:ext cx="434403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2229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A7821A-DA1F-4AB9-978C-E00C821457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41AC9-B3B4-4241-A045-ECCD6A8C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50717-115F-4227-81F8-C6A1CBA4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67AD3-4A4A-4BDC-ADED-9E9B31A9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76300" y="4914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D54A8-D7DB-4F95-B46E-EF7F6042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-114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2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65523-886F-46CB-A86F-18BC88EF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C92D8-346D-45A5-BEDE-3703A517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9093C-0C14-4C8C-8F25-F5E5FBE6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20557-29DA-4A5A-B47F-8A8090B5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17797-3ED4-4A0D-8E30-017D52D8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C5748-E4DF-4175-BB99-BA168B10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5C413-7991-4C87-8F32-46D83676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A5158-6992-43B9-823D-EAF6F9FF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248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5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C85C1-1322-4F73-AB69-59081711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F6F"/>
                </a:solidFill>
              </a:defRPr>
            </a:pPr>
            <a:r>
              <a:rPr sz="1050" b="1">
                <a:solidFill>
                  <a:srgbClr val="0E8F6F"/>
                </a:solidFill>
              </a:rPr>
              <a:t>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9C2446-EBA1-41AE-9BF7-68B846FE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480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A66"/>
                </a:solidFill>
              </a:defRPr>
            </a:pPr>
            <a:r>
              <a:rPr sz="1050" b="1">
                <a:solidFill>
                  <a:srgbClr val="5E6A66"/>
                </a:solidFill>
              </a:rPr>
              <a:t>总结与展望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8BAEFC-5481-4714-999B-A5DED19C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048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A66"/>
                </a:solidFill>
              </a:defRPr>
            </a:pPr>
            <a:r>
              <a:rPr sz="975" b="0">
                <a:solidFill>
                  <a:srgbClr val="5E6A66"/>
                </a:solidFill>
              </a:rPr>
              <a:t>13 / 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4E0F01-3AD9-40BB-99CF-84F31237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8AE889-9514-4BCC-A211-61FED537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95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D"/>
                </a:solidFill>
              </a:defRPr>
            </a:pPr>
            <a:r>
              <a:rPr sz="2550" b="1">
                <a:solidFill>
                  <a:srgbClr val="17201D"/>
                </a:solidFill>
              </a:rPr>
              <a:t>总结与展望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91182-4907-4943-B00D-8FE097AD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66"/>
                </a:solidFill>
              </a:defRPr>
            </a:pPr>
            <a:r>
              <a:rPr sz="1275" b="0">
                <a:solidFill>
                  <a:srgbClr val="5E6A66"/>
                </a:solidFill>
              </a:rPr>
              <a:t>系统已形成可运行的智能眼镜导航原型，后续可以围绕稳定性、轻量化和真实场景测试继续优化。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ACABB5-3F83-46BD-9CC0-8B1A7D78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5303CF-A55F-45AB-AFD5-44CF9EBE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8F6F"/>
                </a:solidFill>
              </a:defRPr>
            </a:pPr>
            <a:r>
              <a:rPr sz="1650" b="1">
                <a:solidFill>
                  <a:srgbClr val="0E8F6F"/>
                </a:solidFill>
              </a:rPr>
              <a:t>已完成工作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E129E5-C5A0-49FE-89F7-63D8EADE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B3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B81652-F500-4C3E-82D4-BCC705C0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337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ESP32 音视频采集与设备端播放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B5A85C-3579-45EF-8D19-E1202F77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B3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FC01EE-ADE5-4768-95E7-D3EC36F1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3377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Go 后端 UDP/HTTP/WebSocket 编排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909F6A-E2E4-42B1-A6EE-A3E26F32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62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B3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B4C7EB-111D-41B6-B5B5-9ED5724A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338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Python 视觉导航 worker 与多模式控制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E101B9-ACB9-4C8D-906D-0DFFBE17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B3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7F8A95-C25A-4176-B58F-9241B591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3387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Vue 实时控制台与部署文档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359723-61EB-46E4-8CFC-DF5E4403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6220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52D685-EC70-4346-811A-F6C6369C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670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624B"/>
                </a:solidFill>
              </a:defRPr>
            </a:pPr>
            <a:r>
              <a:rPr sz="1650" b="1">
                <a:solidFill>
                  <a:srgbClr val="D8624B"/>
                </a:solidFill>
              </a:rPr>
              <a:t>后续展望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A2ACCF-0C79-42A8-9F01-E4918918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993D0F-9B68-4803-AB4D-C4AB2461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337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增加 IMU / GPS / SLAM 辅助定位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AB1FB4-6DA2-4DB4-948C-A7DCB4F0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62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F18C9B-9D9B-44A7-8AC6-28841634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3377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模型量化与边缘推理优化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93743E-C888-44E0-87B5-89844B72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62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34C8F0-0A47-4473-BAD4-4F2440F3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338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扩展更多交通场景数据集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E415C7-831E-4304-A2B9-FD5664BF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62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26F4D8-40BD-409C-B22B-DCE12EFE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3387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D"/>
                </a:solidFill>
              </a:defRPr>
            </a:pPr>
            <a:r>
              <a:rPr sz="1200" b="0">
                <a:solidFill>
                  <a:srgbClr val="17201D"/>
                </a:solidFill>
              </a:rPr>
              <a:t>开展真实道路用户测试与安全评估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112e7c314429e"/>
          <a:stretch xmlns:a="http://schemas.openxmlformats.org/drawingml/2006/main"/>
        </p:blipFill>
        <p:spPr>
          <a:xfrm xmlns:a="http://schemas.openxmlformats.org/drawingml/2006/main">
            <a:off x="10765123" y="5857875"/>
            <a:ext cx="434403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591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A7821A-DA1F-4AB9-978C-E00C821457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8BF2F-6722-4E49-86BC-E27352CE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9773D-2DEA-437E-BC1F-1B8D0E6A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57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4F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6D762-F739-4664-9587-F898A9DB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1428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3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D8A42-8136-483D-9EBB-A2608B5E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28800"/>
            <a:ext cx="384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550" b="1">
                <a:solidFill>
                  <a:srgbClr val="FFFFFF"/>
                </a:solidFill>
              </a:defRPr>
            </a:pPr>
            <a:r>
              <a:rPr sz="5550" b="1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A7DF7-AFEC-4A3A-94E7-AE6EB76F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1465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DE3DA"/>
                </a:solidFill>
              </a:defRPr>
            </a:pPr>
            <a:r>
              <a:rPr sz="1800" b="0">
                <a:solidFill>
                  <a:srgbClr val="CDE3DA"/>
                </a:solidFill>
              </a:rPr>
              <a:t>谢谢各位老师，欢迎批评指正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48204-AFB5-4196-A519-81DDA879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0050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6E85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A76B2-F253-4D4C-B840-ABA22F60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338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系统架构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47328-2706-4A64-B116-DA71EB83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0050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6E85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96731-FAA5-4695-9B5B-AB3655F1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338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算法实现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B1F1F-B0B0-40E7-B5DF-50F43BD5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0050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6E85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13050-C8B9-49ED-BCF8-1ACC57FA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338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测试部署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E50FA-356B-4BCA-BC2B-0AF3A961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AA0"/>
                </a:solidFill>
              </a:defRPr>
            </a:pPr>
            <a:r>
              <a:rPr sz="975" b="0">
                <a:solidFill>
                  <a:srgbClr val="92AAA0"/>
                </a:solidFill>
              </a:rPr>
              <a:t>基于 ESP32 智能眼镜的视觉导航与语音交互系统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0164e00bc4bc4"/>
          <a:stretch xmlns:a="http://schemas.openxmlformats.org/drawingml/2006/main"/>
        </p:blipFill>
        <p:spPr>
          <a:xfrm xmlns:a="http://schemas.openxmlformats.org/drawingml/2006/main">
            <a:off x="10765123" y="5857875"/>
            <a:ext cx="434403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89968"/>
      </p:ext>
    </p:extLst>
  </p:cSld>
</p:sld>
</file>

<file path=ppt/theme/theme1.xml><?xml version="1.0" encoding="utf-8"?>
<a:theme xmlns:a="http://schemas.openxmlformats.org/drawingml/2006/main" name="AI Glass Defense">
  <a:themeElements>
    <a:clrScheme name="AI Glass Defense">
      <a:accent1>
        <a:srgbClr val="0E8F6F"/>
      </a:accent1>
      <a:accent2>
        <a:srgbClr val="D29A2E"/>
      </a:accent2>
      <a:accent3>
        <a:srgbClr val="D8624B"/>
      </a:accent3>
      <a:accent4>
        <a:srgbClr val="2C8FB8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I Glass Defens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2026-05-15T12:27:29.3500000Z</dcterms:created>
  <dcterms:modified xsi:type="dcterms:W3CDTF">2026-05-15T12:27:29.3510000Z</dcterms:modified>
</coreProperties>
</file>